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sldIdLst>
    <p:sldId id="256" r:id="rId2"/>
    <p:sldId id="260" r:id="rId3"/>
    <p:sldId id="257" r:id="rId4"/>
    <p:sldId id="266" r:id="rId5"/>
    <p:sldId id="258" r:id="rId6"/>
    <p:sldId id="269" r:id="rId7"/>
    <p:sldId id="270" r:id="rId8"/>
    <p:sldId id="263" r:id="rId9"/>
    <p:sldId id="271" r:id="rId10"/>
    <p:sldId id="272" r:id="rId11"/>
    <p:sldId id="268" r:id="rId12"/>
    <p:sldId id="262" r:id="rId13"/>
    <p:sldId id="259"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se Peeterson" initials="JP" lastIdx="1" clrIdx="0">
    <p:extLst>
      <p:ext uri="{19B8F6BF-5375-455C-9EA6-DF929625EA0E}">
        <p15:presenceInfo xmlns:p15="http://schemas.microsoft.com/office/powerpoint/2012/main" userId="e063c8b110480e7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09T16:27:57.457"/>
    </inkml:context>
    <inkml:brush xml:id="br0">
      <inkml:brushProperty name="width" value="0.05" units="cm"/>
      <inkml:brushProperty name="height" value="0.05" units="cm"/>
    </inkml:brush>
  </inkml:definitions>
  <inkml:trace contextRef="#ctx0" brushRef="#br0">1 1 10549,'0'0'1344,"0"3"-1392,0-1-1456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dirty="0"/>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63710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714666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dirty="0"/>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19928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510103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783252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610713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943109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670042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663807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4245846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C485584D-7D79-4248-9986-4CA35242F944}" type="datetimeFigureOut">
              <a:rPr lang="en-US" smtClean="0"/>
              <a:t>10/10/2021</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889235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C485584D-7D79-4248-9986-4CA35242F944}" type="datetimeFigureOut">
              <a:rPr lang="en-US" smtClean="0"/>
              <a:t>10/10/2021</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799927"/>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16" r:id="rId6"/>
    <p:sldLayoutId id="2147483712" r:id="rId7"/>
    <p:sldLayoutId id="2147483713" r:id="rId8"/>
    <p:sldLayoutId id="2147483714" r:id="rId9"/>
    <p:sldLayoutId id="2147483715" r:id="rId10"/>
    <p:sldLayoutId id="2147483717" r:id="rId11"/>
  </p:sldLayoutIdLst>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MVIG-SJTU/AlphaPose"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hyperlink" Target="https://github.com/ahmetozlu/tensorflow_object_counting_api" TargetMode="External"/><Relationship Id="rId4" Type="http://schemas.openxmlformats.org/officeDocument/2006/relationships/hyperlink" Target="https://github.com/hunglc007/tensorflow-yolov4-tflit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analyticsvidhya.com/blog/2018/10/predicting-stock-price-machine-learningnd-deep-learning-techniques-python/" TargetMode="External"/><Relationship Id="rId5" Type="http://schemas.openxmlformats.org/officeDocument/2006/relationships/hyperlink" Target="https://archive.ics.uci.edu/ml/datasets/spambase"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youtube.com/watch?v=fZSFNUT6iY8"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s://losslandscape.com/"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www.kdnuggets.com/2020/12/optimization-algorithms-neural-networks.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4.png"/><Relationship Id="rId4" Type="http://schemas.openxmlformats.org/officeDocument/2006/relationships/customXml" Target="../ink/ink1.xml"/></Relationships>
</file>

<file path=ppt/slides/_rels/slide11.xml.rels><?xml version="1.0" encoding="UTF-8" standalone="yes"?>
<Relationships xmlns="http://schemas.openxmlformats.org/package/2006/relationships"><Relationship Id="rId3" Type="http://schemas.openxmlformats.org/officeDocument/2006/relationships/hyperlink" Target="https://sci2lab.github.io/ml_tutorial/neural_network/"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www.youtube.com/watch?v=aircAruvnKk"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towardsdatascience.com/conda-google-colab-75f7c867a522" TargetMode="External"/><Relationship Id="rId13" Type="http://schemas.openxmlformats.org/officeDocument/2006/relationships/hyperlink" Target="https://www.google.com/search?q=ibm+watson+certification+course&amp;sxsrf=AOaemvKk3nNHzBy8Hvq5bWkn4UMkgzgoJQ%3A1633745176586&amp;ei=GPlgYfugI8S-9QPcvLj4Bw&amp;oq=ibm+watson+certification+course&amp;gs_lcp=Cgdnd3Mtd2l6EAMYADIGCAAQFhAeMgYIABAWEB46BwgAEEcQsAM6BQgAEJECOgUIABCABDoICAAQCBANEB5KBAhBGABQ-RNYphpgjiRoAXAAeACAAUOIAbICkgEBNZgBAKABAcgBCMABAQ&amp;sclient=gws-wiz" TargetMode="External"/><Relationship Id="rId3" Type="http://schemas.openxmlformats.org/officeDocument/2006/relationships/hyperlink" Target="https://www.youtube.com/watch?v=7K1sB05pE0A&amp;list=PL590CCC2BC5AF3BC1" TargetMode="External"/><Relationship Id="rId7" Type="http://schemas.openxmlformats.org/officeDocument/2006/relationships/hyperlink" Target="https://machinelearningmastery.com/" TargetMode="External"/><Relationship Id="rId12" Type="http://schemas.openxmlformats.org/officeDocument/2006/relationships/hyperlink" Target="https://www.coursera.org/specializations/deep-learning?"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openai.com/" TargetMode="External"/><Relationship Id="rId11" Type="http://schemas.openxmlformats.org/officeDocument/2006/relationships/hyperlink" Target="https://www.youtube.com/c/joshstarmer" TargetMode="External"/><Relationship Id="rId5" Type="http://schemas.openxmlformats.org/officeDocument/2006/relationships/hyperlink" Target="https://www.youtube.com/watch?v=1uW3qMFA9Ho&amp;list=PLUl4u3cNGP60hI9ATjSFgLZpbNJ7myAg6" TargetMode="External"/><Relationship Id="rId10" Type="http://schemas.openxmlformats.org/officeDocument/2006/relationships/hyperlink" Target="https://realpython.com/" TargetMode="External"/><Relationship Id="rId4" Type="http://schemas.openxmlformats.org/officeDocument/2006/relationships/hyperlink" Target="https://www.youtube.com/watch?v=QVKj3LADCnA&amp;list=PL49CF3715CB9EF31D" TargetMode="External"/><Relationship Id="rId9" Type="http://schemas.openxmlformats.org/officeDocument/2006/relationships/hyperlink" Target="kaggle.com" TargetMode="External"/><Relationship Id="rId14" Type="http://schemas.openxmlformats.org/officeDocument/2006/relationships/hyperlink" Target="https://www.coursera.org/professional-certificates/applied-artifical-intelligence-ibm-watson-ai"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19">
            <a:extLst>
              <a:ext uri="{FF2B5EF4-FFF2-40B4-BE49-F238E27FC236}">
                <a16:creationId xmlns:a16="http://schemas.microsoft.com/office/drawing/2014/main" id="{DD8EACB7-D372-470B-B76E-A829D0031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5">
            <a:extLst>
              <a:ext uri="{FF2B5EF4-FFF2-40B4-BE49-F238E27FC236}">
                <a16:creationId xmlns:a16="http://schemas.microsoft.com/office/drawing/2014/main" id="{C7EA4B13-46D3-41EE-95DA-7B2100DE9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4038600"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DCEEEBE1-DC7B-4168-90C6-DB88876E3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14258" y="4550150"/>
            <a:ext cx="867485" cy="115439"/>
            <a:chOff x="8910933" y="1861308"/>
            <a:chExt cx="867485" cy="115439"/>
          </a:xfrm>
        </p:grpSpPr>
        <p:sp>
          <p:nvSpPr>
            <p:cNvPr id="25" name="Rectangle 24">
              <a:extLst>
                <a:ext uri="{FF2B5EF4-FFF2-40B4-BE49-F238E27FC236}">
                  <a16:creationId xmlns:a16="http://schemas.microsoft.com/office/drawing/2014/main" id="{43418E74-781F-419C-8C63-91C14AF8D8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9B0F0D1C-98D5-4C46-961A-0E36168C31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3E9C99B-47BB-461B-AEDE-0B227C5B25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23FAFC6-EF03-487F-9816-1EB1825DFFF1}"/>
              </a:ext>
            </a:extLst>
          </p:cNvPr>
          <p:cNvSpPr>
            <a:spLocks noGrp="1"/>
          </p:cNvSpPr>
          <p:nvPr>
            <p:ph type="ctrTitle"/>
          </p:nvPr>
        </p:nvSpPr>
        <p:spPr>
          <a:xfrm>
            <a:off x="1406924" y="1398850"/>
            <a:ext cx="3388596" cy="2030150"/>
          </a:xfrm>
        </p:spPr>
        <p:txBody>
          <a:bodyPr>
            <a:normAutofit/>
          </a:bodyPr>
          <a:lstStyle/>
          <a:p>
            <a:r>
              <a:rPr lang="en-US" dirty="0"/>
              <a:t>Artificial intelligence</a:t>
            </a:r>
            <a:br>
              <a:rPr lang="en-US" dirty="0"/>
            </a:br>
            <a:r>
              <a:rPr lang="en-US" dirty="0"/>
              <a:t>- Part 1</a:t>
            </a:r>
            <a:endParaRPr lang="en-SG" dirty="0"/>
          </a:p>
        </p:txBody>
      </p:sp>
      <p:sp>
        <p:nvSpPr>
          <p:cNvPr id="6" name="Subtitle 5">
            <a:extLst>
              <a:ext uri="{FF2B5EF4-FFF2-40B4-BE49-F238E27FC236}">
                <a16:creationId xmlns:a16="http://schemas.microsoft.com/office/drawing/2014/main" id="{0A5B2372-56ED-4ACA-BACA-313482743918}"/>
              </a:ext>
            </a:extLst>
          </p:cNvPr>
          <p:cNvSpPr>
            <a:spLocks noGrp="1"/>
          </p:cNvSpPr>
          <p:nvPr>
            <p:ph type="subTitle" idx="1"/>
          </p:nvPr>
        </p:nvSpPr>
        <p:spPr/>
        <p:txBody>
          <a:bodyPr/>
          <a:lstStyle/>
          <a:p>
            <a:endParaRPr lang="en-SG" dirty="0"/>
          </a:p>
        </p:txBody>
      </p:sp>
      <p:sp>
        <p:nvSpPr>
          <p:cNvPr id="19" name="Subtitle 2">
            <a:extLst>
              <a:ext uri="{FF2B5EF4-FFF2-40B4-BE49-F238E27FC236}">
                <a16:creationId xmlns:a16="http://schemas.microsoft.com/office/drawing/2014/main" id="{0DBC6E7B-74C2-4794-941D-11A0A8FB3761}"/>
              </a:ext>
            </a:extLst>
          </p:cNvPr>
          <p:cNvSpPr txBox="1">
            <a:spLocks/>
          </p:cNvSpPr>
          <p:nvPr/>
        </p:nvSpPr>
        <p:spPr>
          <a:xfrm>
            <a:off x="1406924" y="3712101"/>
            <a:ext cx="3282152" cy="732541"/>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Tx/>
              <a:buNone/>
              <a:defRPr sz="20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SzPct val="85000"/>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FontTx/>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FontTx/>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10/10/2021</a:t>
            </a:r>
            <a:endParaRPr lang="en-SG" dirty="0"/>
          </a:p>
        </p:txBody>
      </p:sp>
      <p:sp>
        <p:nvSpPr>
          <p:cNvPr id="21" name="Subtitle 2">
            <a:extLst>
              <a:ext uri="{FF2B5EF4-FFF2-40B4-BE49-F238E27FC236}">
                <a16:creationId xmlns:a16="http://schemas.microsoft.com/office/drawing/2014/main" id="{4793ADDE-44F4-4E00-9C2F-30FB4928608D}"/>
              </a:ext>
            </a:extLst>
          </p:cNvPr>
          <p:cNvSpPr txBox="1">
            <a:spLocks/>
          </p:cNvSpPr>
          <p:nvPr/>
        </p:nvSpPr>
        <p:spPr>
          <a:xfrm>
            <a:off x="8909848" y="6372692"/>
            <a:ext cx="3282152" cy="732541"/>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Tx/>
              <a:buNone/>
              <a:defRPr sz="20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SzPct val="85000"/>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FontTx/>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FontTx/>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Jose Peeterson</a:t>
            </a:r>
            <a:endParaRPr lang="en-SG" dirty="0"/>
          </a:p>
        </p:txBody>
      </p:sp>
      <p:pic>
        <p:nvPicPr>
          <p:cNvPr id="3" name="Picture 2" descr="The Evolution of Banking: AI | MS&amp;amp;E 238 Blog">
            <a:extLst>
              <a:ext uri="{FF2B5EF4-FFF2-40B4-BE49-F238E27FC236}">
                <a16:creationId xmlns:a16="http://schemas.microsoft.com/office/drawing/2014/main" id="{52AA3D63-2360-4976-97AD-E83AA462D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9132" y="1251758"/>
            <a:ext cx="6719916" cy="465374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Giving Nitro Boost to Artificial Intelligence! | by Blockchain DuDe |  HackerNoon.com | Medium">
            <a:extLst>
              <a:ext uri="{FF2B5EF4-FFF2-40B4-BE49-F238E27FC236}">
                <a16:creationId xmlns:a16="http://schemas.microsoft.com/office/drawing/2014/main" id="{2134C685-59D3-4420-A1CA-87BDA401C0AC}"/>
              </a:ext>
            </a:extLst>
          </p:cNvPr>
          <p:cNvPicPr>
            <a:picLocks noChangeAspect="1" noChangeArrowheads="1"/>
          </p:cNvPicPr>
          <p:nvPr/>
        </p:nvPicPr>
        <p:blipFill>
          <a:blip r:embed="rId3">
            <a:alphaModFix amt="17000"/>
            <a:extLst>
              <a:ext uri="{28A0092B-C50C-407E-A947-70E740481C1C}">
                <a14:useLocalDpi xmlns:a14="http://schemas.microsoft.com/office/drawing/2010/main" val="0"/>
              </a:ext>
            </a:extLst>
          </a:blip>
          <a:srcRect/>
          <a:stretch>
            <a:fillRect/>
          </a:stretch>
        </p:blipFill>
        <p:spPr bwMode="auto">
          <a:xfrm>
            <a:off x="-9378"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505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Giving Nitro Boost to Artificial Intelligence! | by Blockchain DuDe |  HackerNoon.com | Medium">
            <a:extLst>
              <a:ext uri="{FF2B5EF4-FFF2-40B4-BE49-F238E27FC236}">
                <a16:creationId xmlns:a16="http://schemas.microsoft.com/office/drawing/2014/main" id="{EED5F784-35F8-4578-BC2A-0D3E2EB81212}"/>
              </a:ext>
            </a:extLst>
          </p:cNvPr>
          <p:cNvPicPr>
            <a:picLocks noChangeAspect="1" noChangeArrowheads="1"/>
          </p:cNvPicPr>
          <p:nvPr/>
        </p:nvPicPr>
        <p:blipFill>
          <a:blip r:embed="rId2">
            <a:alphaModFix amt="17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C1EF671-B2C9-40E2-883B-D4D4F8D56662}"/>
              </a:ext>
            </a:extLst>
          </p:cNvPr>
          <p:cNvSpPr>
            <a:spLocks noGrp="1"/>
          </p:cNvSpPr>
          <p:nvPr>
            <p:ph type="title"/>
          </p:nvPr>
        </p:nvSpPr>
        <p:spPr>
          <a:xfrm>
            <a:off x="1028700" y="723900"/>
            <a:ext cx="10134600" cy="624609"/>
          </a:xfrm>
        </p:spPr>
        <p:txBody>
          <a:bodyPr/>
          <a:lstStyle/>
          <a:p>
            <a:r>
              <a:rPr lang="en-US" dirty="0"/>
              <a:t>The Power of AI – LSTM &amp; CNN</a:t>
            </a:r>
            <a:endParaRPr lang="en-SG" dirty="0"/>
          </a:p>
        </p:txBody>
      </p:sp>
      <p:sp>
        <p:nvSpPr>
          <p:cNvPr id="3" name="TextBox 2">
            <a:extLst>
              <a:ext uri="{FF2B5EF4-FFF2-40B4-BE49-F238E27FC236}">
                <a16:creationId xmlns:a16="http://schemas.microsoft.com/office/drawing/2014/main" id="{60CD00E7-3A58-422C-B31C-8CD43BAA6446}"/>
              </a:ext>
            </a:extLst>
          </p:cNvPr>
          <p:cNvSpPr txBox="1"/>
          <p:nvPr/>
        </p:nvSpPr>
        <p:spPr>
          <a:xfrm>
            <a:off x="1400174" y="2134195"/>
            <a:ext cx="4695826" cy="923330"/>
          </a:xfrm>
          <a:prstGeom prst="rect">
            <a:avLst/>
          </a:prstGeom>
          <a:noFill/>
        </p:spPr>
        <p:txBody>
          <a:bodyPr wrap="square" rtlCol="0">
            <a:spAutoFit/>
          </a:bodyPr>
          <a:lstStyle/>
          <a:p>
            <a:r>
              <a:rPr lang="en-SG" dirty="0"/>
              <a:t>Pose detection -  </a:t>
            </a:r>
            <a:r>
              <a:rPr lang="en-SG" dirty="0" err="1">
                <a:hlinkClick r:id="rId3"/>
              </a:rPr>
              <a:t>AlphaPose</a:t>
            </a:r>
            <a:endParaRPr lang="en-SG" dirty="0"/>
          </a:p>
          <a:p>
            <a:r>
              <a:rPr lang="en-SG" dirty="0"/>
              <a:t>Object detection – </a:t>
            </a:r>
            <a:r>
              <a:rPr lang="en-SG" dirty="0">
                <a:hlinkClick r:id="rId4"/>
              </a:rPr>
              <a:t>YOLO</a:t>
            </a:r>
            <a:r>
              <a:rPr lang="en-SG" dirty="0"/>
              <a:t>,  </a:t>
            </a:r>
            <a:r>
              <a:rPr lang="en-SG" dirty="0">
                <a:hlinkClick r:id="rId5"/>
              </a:rPr>
              <a:t>FASTER RCNN</a:t>
            </a:r>
            <a:endParaRPr lang="en-SG" dirty="0"/>
          </a:p>
          <a:p>
            <a:endParaRPr lang="en-SG" dirty="0"/>
          </a:p>
        </p:txBody>
      </p:sp>
      <p:sp>
        <p:nvSpPr>
          <p:cNvPr id="6" name="Content Placeholder 5">
            <a:extLst>
              <a:ext uri="{FF2B5EF4-FFF2-40B4-BE49-F238E27FC236}">
                <a16:creationId xmlns:a16="http://schemas.microsoft.com/office/drawing/2014/main" id="{55008A53-F065-4B0D-8E92-29C413C5E844}"/>
              </a:ext>
            </a:extLst>
          </p:cNvPr>
          <p:cNvSpPr>
            <a:spLocks noGrp="1"/>
          </p:cNvSpPr>
          <p:nvPr>
            <p:ph idx="1"/>
          </p:nvPr>
        </p:nvSpPr>
        <p:spPr/>
        <p:txBody>
          <a:bodyPr/>
          <a:lstStyle/>
          <a:p>
            <a:endParaRPr lang="en-SG" dirty="0"/>
          </a:p>
          <a:p>
            <a:endParaRPr lang="en-SG" dirty="0"/>
          </a:p>
          <a:p>
            <a:endParaRPr lang="en-SG" dirty="0"/>
          </a:p>
          <a:p>
            <a:endParaRPr lang="en-SG" dirty="0"/>
          </a:p>
          <a:p>
            <a:r>
              <a:rPr lang="en-SG" dirty="0"/>
              <a:t>Please see </a:t>
            </a:r>
            <a:r>
              <a:rPr lang="en-SG" dirty="0" err="1"/>
              <a:t>youtube</a:t>
            </a:r>
            <a:r>
              <a:rPr lang="en-SG" dirty="0"/>
              <a:t> video for videos.</a:t>
            </a:r>
          </a:p>
        </p:txBody>
      </p:sp>
    </p:spTree>
    <p:extLst>
      <p:ext uri="{BB962C8B-B14F-4D97-AF65-F5344CB8AC3E}">
        <p14:creationId xmlns:p14="http://schemas.microsoft.com/office/powerpoint/2010/main" val="2625958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Top 5 spam detection features [19]. | Download Table">
            <a:extLst>
              <a:ext uri="{FF2B5EF4-FFF2-40B4-BE49-F238E27FC236}">
                <a16:creationId xmlns:a16="http://schemas.microsoft.com/office/drawing/2014/main" id="{FD4EBB1B-4FAB-4318-AA28-45FD8D535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0617" y="189923"/>
            <a:ext cx="4996761" cy="3239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0DCD0C7-1285-4C8A-B1BE-EBFAC6FC0B2E}"/>
              </a:ext>
            </a:extLst>
          </p:cNvPr>
          <p:cNvPicPr>
            <a:picLocks noChangeAspect="1"/>
          </p:cNvPicPr>
          <p:nvPr/>
        </p:nvPicPr>
        <p:blipFill>
          <a:blip r:embed="rId3"/>
          <a:stretch>
            <a:fillRect/>
          </a:stretch>
        </p:blipFill>
        <p:spPr>
          <a:xfrm>
            <a:off x="5371384" y="3099752"/>
            <a:ext cx="6751533" cy="3515149"/>
          </a:xfrm>
          <a:prstGeom prst="rect">
            <a:avLst/>
          </a:prstGeom>
        </p:spPr>
      </p:pic>
      <p:pic>
        <p:nvPicPr>
          <p:cNvPr id="13" name="Picture 2" descr="Giving Nitro Boost to Artificial Intelligence! | by Blockchain DuDe |  HackerNoon.com | Medium">
            <a:extLst>
              <a:ext uri="{FF2B5EF4-FFF2-40B4-BE49-F238E27FC236}">
                <a16:creationId xmlns:a16="http://schemas.microsoft.com/office/drawing/2014/main" id="{D23A6C0D-FBF0-487E-8080-2BC0092A8F7D}"/>
              </a:ext>
            </a:extLst>
          </p:cNvPr>
          <p:cNvPicPr>
            <a:picLocks noChangeAspect="1" noChangeArrowheads="1"/>
          </p:cNvPicPr>
          <p:nvPr/>
        </p:nvPicPr>
        <p:blipFill>
          <a:blip r:embed="rId4">
            <a:alphaModFix amt="17000"/>
            <a:extLst>
              <a:ext uri="{28A0092B-C50C-407E-A947-70E740481C1C}">
                <a14:useLocalDpi xmlns:a14="http://schemas.microsoft.com/office/drawing/2010/main" val="0"/>
              </a:ext>
            </a:extLst>
          </a:blip>
          <a:srcRect/>
          <a:stretch>
            <a:fillRect/>
          </a:stretch>
        </p:blipFill>
        <p:spPr bwMode="auto">
          <a:xfrm>
            <a:off x="2" y="0"/>
            <a:ext cx="12274097"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FF4C789B-36F0-45B6-8ADE-21B86695E485}"/>
              </a:ext>
            </a:extLst>
          </p:cNvPr>
          <p:cNvSpPr>
            <a:spLocks noGrp="1"/>
          </p:cNvSpPr>
          <p:nvPr>
            <p:ph idx="1"/>
          </p:nvPr>
        </p:nvSpPr>
        <p:spPr>
          <a:xfrm>
            <a:off x="1028700" y="1762126"/>
            <a:ext cx="10134600" cy="4695824"/>
          </a:xfrm>
        </p:spPr>
        <p:txBody>
          <a:bodyPr>
            <a:normAutofit/>
          </a:bodyPr>
          <a:lstStyle/>
          <a:p>
            <a:pPr marL="342900" indent="-342900">
              <a:buFont typeface="Arial" panose="020B0604020202020204" pitchFamily="34" charset="0"/>
              <a:buChar char="•"/>
            </a:pPr>
            <a:r>
              <a:rPr lang="en-SG" sz="2600" dirty="0"/>
              <a:t>Classification</a:t>
            </a:r>
          </a:p>
          <a:p>
            <a:pPr marL="617220" lvl="1" indent="-342900"/>
            <a:r>
              <a:rPr lang="en-SG" sz="2200" dirty="0"/>
              <a:t>Fraud detection, </a:t>
            </a:r>
            <a:r>
              <a:rPr lang="en-SG" sz="2200" dirty="0">
                <a:hlinkClick r:id="rId5"/>
              </a:rPr>
              <a:t>Spam Email detection</a:t>
            </a:r>
            <a:endParaRPr lang="en-SG" sz="2200" dirty="0"/>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Regression</a:t>
            </a:r>
          </a:p>
          <a:p>
            <a:pPr marL="617220" lvl="1" indent="-342900"/>
            <a:r>
              <a:rPr lang="en-SG" sz="2200" dirty="0"/>
              <a:t>Time series Forecasting, </a:t>
            </a:r>
            <a:r>
              <a:rPr lang="en-SG" sz="2200" dirty="0">
                <a:hlinkClick r:id="rId6"/>
              </a:rPr>
              <a:t>stock price prediction</a:t>
            </a:r>
            <a:endParaRPr lang="en-SG" sz="2200" dirty="0"/>
          </a:p>
          <a:p>
            <a:pPr marL="617220" lvl="1" indent="-342900"/>
            <a:endParaRPr lang="en-SG" sz="2400" dirty="0"/>
          </a:p>
          <a:p>
            <a:pPr marL="617220" lvl="1" indent="-342900"/>
            <a:endParaRPr lang="en-SG" dirty="0"/>
          </a:p>
          <a:p>
            <a:pPr marL="617220" lvl="1" indent="-342900"/>
            <a:endParaRPr lang="en-SG" dirty="0"/>
          </a:p>
        </p:txBody>
      </p:sp>
      <p:sp>
        <p:nvSpPr>
          <p:cNvPr id="2" name="Title 1">
            <a:extLst>
              <a:ext uri="{FF2B5EF4-FFF2-40B4-BE49-F238E27FC236}">
                <a16:creationId xmlns:a16="http://schemas.microsoft.com/office/drawing/2014/main" id="{EC1EF671-B2C9-40E2-883B-D4D4F8D56662}"/>
              </a:ext>
            </a:extLst>
          </p:cNvPr>
          <p:cNvSpPr>
            <a:spLocks noGrp="1"/>
          </p:cNvSpPr>
          <p:nvPr>
            <p:ph type="title"/>
          </p:nvPr>
        </p:nvSpPr>
        <p:spPr>
          <a:xfrm>
            <a:off x="1028700" y="723901"/>
            <a:ext cx="10134600" cy="685800"/>
          </a:xfrm>
        </p:spPr>
        <p:txBody>
          <a:bodyPr/>
          <a:lstStyle/>
          <a:p>
            <a:r>
              <a:rPr lang="en-US" dirty="0"/>
              <a:t>The Power of AI – Common tasks</a:t>
            </a:r>
            <a:endParaRPr lang="en-SG" dirty="0"/>
          </a:p>
        </p:txBody>
      </p:sp>
    </p:spTree>
    <p:extLst>
      <p:ext uri="{BB962C8B-B14F-4D97-AF65-F5344CB8AC3E}">
        <p14:creationId xmlns:p14="http://schemas.microsoft.com/office/powerpoint/2010/main" val="425051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Giving Nitro Boost to Artificial Intelligence! | by Blockchain DuDe |  HackerNoon.com | Medium">
            <a:extLst>
              <a:ext uri="{FF2B5EF4-FFF2-40B4-BE49-F238E27FC236}">
                <a16:creationId xmlns:a16="http://schemas.microsoft.com/office/drawing/2014/main" id="{D23A6C0D-FBF0-487E-8080-2BC0092A8F7D}"/>
              </a:ext>
            </a:extLst>
          </p:cNvPr>
          <p:cNvPicPr>
            <a:picLocks noChangeAspect="1" noChangeArrowheads="1"/>
          </p:cNvPicPr>
          <p:nvPr/>
        </p:nvPicPr>
        <p:blipFill>
          <a:blip r:embed="rId2">
            <a:alphaModFix amt="17000"/>
            <a:extLst>
              <a:ext uri="{28A0092B-C50C-407E-A947-70E740481C1C}">
                <a14:useLocalDpi xmlns:a14="http://schemas.microsoft.com/office/drawing/2010/main" val="0"/>
              </a:ext>
            </a:extLst>
          </a:blip>
          <a:srcRect/>
          <a:stretch>
            <a:fillRect/>
          </a:stretch>
        </p:blipFill>
        <p:spPr bwMode="auto">
          <a:xfrm>
            <a:off x="2" y="0"/>
            <a:ext cx="1227409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A Chatbot? For eCommerce, Lead Gen and More">
            <a:extLst>
              <a:ext uri="{FF2B5EF4-FFF2-40B4-BE49-F238E27FC236}">
                <a16:creationId xmlns:a16="http://schemas.microsoft.com/office/drawing/2014/main" id="{3F3A133E-7FDF-47CD-8802-A96E44826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3311" y="820130"/>
            <a:ext cx="4277817" cy="3000241"/>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FF4C789B-36F0-45B6-8ADE-21B86695E485}"/>
              </a:ext>
            </a:extLst>
          </p:cNvPr>
          <p:cNvSpPr>
            <a:spLocks noGrp="1"/>
          </p:cNvSpPr>
          <p:nvPr>
            <p:ph idx="1"/>
          </p:nvPr>
        </p:nvSpPr>
        <p:spPr>
          <a:xfrm>
            <a:off x="1028700" y="1762126"/>
            <a:ext cx="10134600" cy="4695824"/>
          </a:xfrm>
        </p:spPr>
        <p:txBody>
          <a:bodyPr>
            <a:normAutofit/>
          </a:bodyPr>
          <a:lstStyle/>
          <a:p>
            <a:pPr marL="342900" indent="-342900">
              <a:buFont typeface="Arial" panose="020B0604020202020204" pitchFamily="34" charset="0"/>
              <a:buChar char="•"/>
            </a:pPr>
            <a:r>
              <a:rPr lang="en-SG" sz="2600" dirty="0"/>
              <a:t>Natural Language Processing </a:t>
            </a:r>
          </a:p>
          <a:p>
            <a:pPr marL="617220" lvl="2" indent="-342900"/>
            <a:r>
              <a:rPr lang="en-SG" sz="2200" dirty="0"/>
              <a:t>(based on Recurrent Neural Networks) </a:t>
            </a:r>
          </a:p>
          <a:p>
            <a:pPr marL="617220" lvl="1" indent="-342900"/>
            <a:r>
              <a:rPr lang="en-SG" sz="2200" dirty="0"/>
              <a:t>Machine translation</a:t>
            </a:r>
          </a:p>
          <a:p>
            <a:pPr marL="617220" lvl="1" indent="-342900"/>
            <a:r>
              <a:rPr lang="en-SG" sz="2200" dirty="0"/>
              <a:t>Chat bots</a:t>
            </a:r>
          </a:p>
          <a:p>
            <a:pPr marL="617220" lvl="1" indent="-342900"/>
            <a:r>
              <a:rPr lang="en-SG" sz="2200" dirty="0"/>
              <a:t>Code generation</a:t>
            </a:r>
          </a:p>
          <a:p>
            <a:pPr marL="891540" lvl="3" indent="-342900"/>
            <a:r>
              <a:rPr lang="en-SG" sz="1700" dirty="0" err="1">
                <a:hlinkClick r:id="rId4"/>
              </a:rPr>
              <a:t>OpenAI</a:t>
            </a:r>
            <a:r>
              <a:rPr lang="en-SG" sz="1700" dirty="0">
                <a:hlinkClick r:id="rId4"/>
              </a:rPr>
              <a:t> Codex</a:t>
            </a:r>
            <a:r>
              <a:rPr lang="en-SG" sz="1700" dirty="0"/>
              <a:t> (*Palindromes are strings that read the same in both directions. E.g. MADAM, 123321)</a:t>
            </a:r>
          </a:p>
          <a:p>
            <a:pPr marL="342900" indent="-342900">
              <a:buFont typeface="Arial" panose="020B0604020202020204" pitchFamily="34" charset="0"/>
              <a:buChar char="•"/>
            </a:pPr>
            <a:r>
              <a:rPr lang="en-SG" sz="2600" dirty="0"/>
              <a:t>Computer vision </a:t>
            </a:r>
          </a:p>
          <a:p>
            <a:pPr marL="617220" lvl="2" indent="-342900"/>
            <a:r>
              <a:rPr lang="en-SG" sz="2200" dirty="0"/>
              <a:t>(based on Convolutional Neural Networks)</a:t>
            </a:r>
          </a:p>
          <a:p>
            <a:pPr marL="617220" lvl="1" indent="-342900"/>
            <a:r>
              <a:rPr lang="en-SG" sz="2400" dirty="0"/>
              <a:t>Face detection and tracking, virtual spectacles</a:t>
            </a:r>
          </a:p>
          <a:p>
            <a:pPr marL="617220" lvl="1" indent="-342900"/>
            <a:endParaRPr lang="en-SG" sz="2400" dirty="0"/>
          </a:p>
          <a:p>
            <a:pPr marL="617220" lvl="1" indent="-342900"/>
            <a:endParaRPr lang="en-SG" dirty="0"/>
          </a:p>
          <a:p>
            <a:pPr marL="617220" lvl="1" indent="-342900"/>
            <a:endParaRPr lang="en-SG" dirty="0"/>
          </a:p>
        </p:txBody>
      </p:sp>
      <p:sp>
        <p:nvSpPr>
          <p:cNvPr id="2" name="Title 1">
            <a:extLst>
              <a:ext uri="{FF2B5EF4-FFF2-40B4-BE49-F238E27FC236}">
                <a16:creationId xmlns:a16="http://schemas.microsoft.com/office/drawing/2014/main" id="{EC1EF671-B2C9-40E2-883B-D4D4F8D56662}"/>
              </a:ext>
            </a:extLst>
          </p:cNvPr>
          <p:cNvSpPr>
            <a:spLocks noGrp="1"/>
          </p:cNvSpPr>
          <p:nvPr>
            <p:ph type="title"/>
          </p:nvPr>
        </p:nvSpPr>
        <p:spPr>
          <a:xfrm>
            <a:off x="1028700" y="723901"/>
            <a:ext cx="10134600" cy="685800"/>
          </a:xfrm>
        </p:spPr>
        <p:txBody>
          <a:bodyPr/>
          <a:lstStyle/>
          <a:p>
            <a:r>
              <a:rPr lang="en-US" dirty="0"/>
              <a:t>The Power of AI – Common tasks</a:t>
            </a:r>
            <a:endParaRPr lang="en-SG" dirty="0"/>
          </a:p>
        </p:txBody>
      </p:sp>
    </p:spTree>
    <p:extLst>
      <p:ext uri="{BB962C8B-B14F-4D97-AF65-F5344CB8AC3E}">
        <p14:creationId xmlns:p14="http://schemas.microsoft.com/office/powerpoint/2010/main" val="3961641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780C5916-E8A0-4E93-A985-082C5A8E4BFA}"/>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27410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A6EAC8-7AA4-45FE-8443-0C5963D97E9C}"/>
              </a:ext>
            </a:extLst>
          </p:cNvPr>
          <p:cNvSpPr>
            <a:spLocks noGrp="1"/>
          </p:cNvSpPr>
          <p:nvPr>
            <p:ph type="title"/>
          </p:nvPr>
        </p:nvSpPr>
        <p:spPr>
          <a:xfrm>
            <a:off x="1028700" y="555173"/>
            <a:ext cx="10134600" cy="561733"/>
          </a:xfrm>
        </p:spPr>
        <p:txBody>
          <a:bodyPr>
            <a:normAutofit fontScale="90000"/>
          </a:bodyPr>
          <a:lstStyle/>
          <a:p>
            <a:pPr algn="ctr"/>
            <a:r>
              <a:rPr lang="en-US" sz="3200" dirty="0"/>
              <a:t>Under the bonnet of AI -&gt; </a:t>
            </a:r>
            <a:r>
              <a:rPr lang="en-US"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NEURAL NETWORKS (NN)</a:t>
            </a:r>
            <a:endParaRPr lang="en-SG" sz="3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 name="Content Placeholder 2">
            <a:extLst>
              <a:ext uri="{FF2B5EF4-FFF2-40B4-BE49-F238E27FC236}">
                <a16:creationId xmlns:a16="http://schemas.microsoft.com/office/drawing/2014/main" id="{2D3A0C9E-7034-46EB-8038-DE3334857E82}"/>
              </a:ext>
            </a:extLst>
          </p:cNvPr>
          <p:cNvSpPr>
            <a:spLocks noGrp="1"/>
          </p:cNvSpPr>
          <p:nvPr>
            <p:ph idx="1"/>
          </p:nvPr>
        </p:nvSpPr>
        <p:spPr/>
        <p:txBody>
          <a:bodyPr/>
          <a:lstStyle/>
          <a:p>
            <a:pPr marL="342900" indent="-342900">
              <a:buFont typeface="Arial" panose="020B0604020202020204" pitchFamily="34" charset="0"/>
              <a:buChar char="•"/>
            </a:pPr>
            <a:r>
              <a:rPr lang="en-SG" dirty="0"/>
              <a:t>Neural Networks</a:t>
            </a:r>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p:txBody>
      </p:sp>
      <p:pic>
        <p:nvPicPr>
          <p:cNvPr id="8" name="Picture 7">
            <a:extLst>
              <a:ext uri="{FF2B5EF4-FFF2-40B4-BE49-F238E27FC236}">
                <a16:creationId xmlns:a16="http://schemas.microsoft.com/office/drawing/2014/main" id="{CC0643CE-6975-4E0D-BA26-40C8E188B6CD}"/>
              </a:ext>
            </a:extLst>
          </p:cNvPr>
          <p:cNvPicPr>
            <a:picLocks noChangeAspect="1"/>
          </p:cNvPicPr>
          <p:nvPr/>
        </p:nvPicPr>
        <p:blipFill>
          <a:blip r:embed="rId3"/>
          <a:stretch>
            <a:fillRect/>
          </a:stretch>
        </p:blipFill>
        <p:spPr>
          <a:xfrm>
            <a:off x="401238" y="1285633"/>
            <a:ext cx="7181817" cy="5295205"/>
          </a:xfrm>
          <a:prstGeom prst="rect">
            <a:avLst/>
          </a:prstGeom>
        </p:spPr>
      </p:pic>
      <p:pic>
        <p:nvPicPr>
          <p:cNvPr id="2054" name="Picture 6" descr="Python | One Hidden Layer Simplest Neural Network">
            <a:extLst>
              <a:ext uri="{FF2B5EF4-FFF2-40B4-BE49-F238E27FC236}">
                <a16:creationId xmlns:a16="http://schemas.microsoft.com/office/drawing/2014/main" id="{BE97BD06-DAE7-4DEF-AF95-F257F52821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1374" y="1146954"/>
            <a:ext cx="4365815" cy="2667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Table 4">
            <a:extLst>
              <a:ext uri="{FF2B5EF4-FFF2-40B4-BE49-F238E27FC236}">
                <a16:creationId xmlns:a16="http://schemas.microsoft.com/office/drawing/2014/main" id="{0A222A25-07F1-4CDB-908E-4B8A767A479C}"/>
              </a:ext>
            </a:extLst>
          </p:cNvPr>
          <p:cNvGraphicFramePr>
            <a:graphicFrameLocks noGrp="1"/>
          </p:cNvGraphicFramePr>
          <p:nvPr>
            <p:extLst>
              <p:ext uri="{D42A27DB-BD31-4B8C-83A1-F6EECF244321}">
                <p14:modId xmlns:p14="http://schemas.microsoft.com/office/powerpoint/2010/main" val="2786492474"/>
              </p:ext>
            </p:extLst>
          </p:nvPr>
        </p:nvGraphicFramePr>
        <p:xfrm>
          <a:off x="7691374" y="4224828"/>
          <a:ext cx="4500627" cy="2320134"/>
        </p:xfrm>
        <a:graphic>
          <a:graphicData uri="http://schemas.openxmlformats.org/drawingml/2006/table">
            <a:tbl>
              <a:tblPr firstRow="1" bandRow="1">
                <a:tableStyleId>{5C22544A-7EE6-4342-B048-85BDC9FD1C3A}</a:tableStyleId>
              </a:tblPr>
              <a:tblGrid>
                <a:gridCol w="338375">
                  <a:extLst>
                    <a:ext uri="{9D8B030D-6E8A-4147-A177-3AD203B41FA5}">
                      <a16:colId xmlns:a16="http://schemas.microsoft.com/office/drawing/2014/main" val="2330091094"/>
                    </a:ext>
                  </a:extLst>
                </a:gridCol>
                <a:gridCol w="608329">
                  <a:extLst>
                    <a:ext uri="{9D8B030D-6E8A-4147-A177-3AD203B41FA5}">
                      <a16:colId xmlns:a16="http://schemas.microsoft.com/office/drawing/2014/main" val="2547544199"/>
                    </a:ext>
                  </a:extLst>
                </a:gridCol>
                <a:gridCol w="584317">
                  <a:extLst>
                    <a:ext uri="{9D8B030D-6E8A-4147-A177-3AD203B41FA5}">
                      <a16:colId xmlns:a16="http://schemas.microsoft.com/office/drawing/2014/main" val="3712713778"/>
                    </a:ext>
                  </a:extLst>
                </a:gridCol>
                <a:gridCol w="576311">
                  <a:extLst>
                    <a:ext uri="{9D8B030D-6E8A-4147-A177-3AD203B41FA5}">
                      <a16:colId xmlns:a16="http://schemas.microsoft.com/office/drawing/2014/main" val="3396541309"/>
                    </a:ext>
                  </a:extLst>
                </a:gridCol>
                <a:gridCol w="712384">
                  <a:extLst>
                    <a:ext uri="{9D8B030D-6E8A-4147-A177-3AD203B41FA5}">
                      <a16:colId xmlns:a16="http://schemas.microsoft.com/office/drawing/2014/main" val="300086873"/>
                    </a:ext>
                  </a:extLst>
                </a:gridCol>
                <a:gridCol w="632342">
                  <a:extLst>
                    <a:ext uri="{9D8B030D-6E8A-4147-A177-3AD203B41FA5}">
                      <a16:colId xmlns:a16="http://schemas.microsoft.com/office/drawing/2014/main" val="2206264399"/>
                    </a:ext>
                  </a:extLst>
                </a:gridCol>
                <a:gridCol w="1048569">
                  <a:extLst>
                    <a:ext uri="{9D8B030D-6E8A-4147-A177-3AD203B41FA5}">
                      <a16:colId xmlns:a16="http://schemas.microsoft.com/office/drawing/2014/main" val="2327327654"/>
                    </a:ext>
                  </a:extLst>
                </a:gridCol>
              </a:tblGrid>
              <a:tr h="839922">
                <a:tc>
                  <a:txBody>
                    <a:bodyPr/>
                    <a:lstStyle/>
                    <a:p>
                      <a:r>
                        <a:rPr lang="en-SG" sz="1000" dirty="0"/>
                        <a:t>No.</a:t>
                      </a:r>
                    </a:p>
                  </a:txBody>
                  <a:tcPr/>
                </a:tc>
                <a:tc>
                  <a:txBody>
                    <a:bodyPr/>
                    <a:lstStyle/>
                    <a:p>
                      <a:r>
                        <a:rPr lang="en-SG" sz="1000" dirty="0"/>
                        <a:t>Drinker/ (yes or no) </a:t>
                      </a:r>
                    </a:p>
                  </a:txBody>
                  <a:tcPr/>
                </a:tc>
                <a:tc>
                  <a:txBody>
                    <a:bodyPr/>
                    <a:lstStyle/>
                    <a:p>
                      <a:r>
                        <a:rPr lang="en-SG" sz="1000" dirty="0"/>
                        <a:t>Age/ (years)</a:t>
                      </a:r>
                    </a:p>
                  </a:txBody>
                  <a:tcPr/>
                </a:tc>
                <a:tc>
                  <a:txBody>
                    <a:bodyPr/>
                    <a:lstStyle/>
                    <a:p>
                      <a:r>
                        <a:rPr lang="en-SG" sz="1000" dirty="0"/>
                        <a:t>Average speed/ (Km/h)</a:t>
                      </a:r>
                    </a:p>
                  </a:txBody>
                  <a:tcPr/>
                </a:tc>
                <a:tc>
                  <a:txBody>
                    <a:bodyPr/>
                    <a:lstStyle/>
                    <a:p>
                      <a:r>
                        <a:rPr lang="en-SG" sz="1000" dirty="0"/>
                        <a:t>Type of car/ (sports or normal)</a:t>
                      </a:r>
                    </a:p>
                  </a:txBody>
                  <a:tcPr/>
                </a:tc>
                <a:tc>
                  <a:txBody>
                    <a:bodyPr/>
                    <a:lstStyle/>
                    <a:p>
                      <a:r>
                        <a:rPr lang="en-SG" sz="1000" dirty="0"/>
                        <a:t>Family (yes or 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t>Target /</a:t>
                      </a:r>
                      <a:r>
                        <a:rPr lang="en-SG" sz="1000" dirty="0">
                          <a:solidFill>
                            <a:srgbClr val="FF0000"/>
                          </a:solidFill>
                        </a:rPr>
                        <a:t>(1) </a:t>
                      </a:r>
                      <a:r>
                        <a:rPr lang="en-SG" sz="1000" dirty="0">
                          <a:solidFill>
                            <a:schemeClr val="bg1"/>
                          </a:solidFill>
                        </a:rPr>
                        <a:t>or</a:t>
                      </a:r>
                      <a:r>
                        <a:rPr lang="en-SG" sz="1000" dirty="0">
                          <a:solidFill>
                            <a:srgbClr val="92D050"/>
                          </a:solidFill>
                        </a:rPr>
                        <a:t> (0)</a:t>
                      </a:r>
                    </a:p>
                    <a:p>
                      <a:endParaRPr lang="en-SG" sz="1000" dirty="0"/>
                    </a:p>
                  </a:txBody>
                  <a:tcPr/>
                </a:tc>
                <a:extLst>
                  <a:ext uri="{0D108BD9-81ED-4DB2-BD59-A6C34878D82A}">
                    <a16:rowId xmlns:a16="http://schemas.microsoft.com/office/drawing/2014/main" val="1285740703"/>
                  </a:ext>
                </a:extLst>
              </a:tr>
              <a:tr h="246702">
                <a:tc>
                  <a:txBody>
                    <a:bodyPr/>
                    <a:lstStyle/>
                    <a:p>
                      <a:r>
                        <a:rPr lang="en-SG" sz="1000" dirty="0"/>
                        <a:t>1</a:t>
                      </a:r>
                    </a:p>
                  </a:txBody>
                  <a:tcPr/>
                </a:tc>
                <a:tc>
                  <a:txBody>
                    <a:bodyPr/>
                    <a:lstStyle/>
                    <a:p>
                      <a:r>
                        <a:rPr lang="en-SG" sz="1000" dirty="0"/>
                        <a:t>1</a:t>
                      </a:r>
                    </a:p>
                  </a:txBody>
                  <a:tcPr/>
                </a:tc>
                <a:tc>
                  <a:txBody>
                    <a:bodyPr/>
                    <a:lstStyle/>
                    <a:p>
                      <a:r>
                        <a:rPr lang="en-SG" sz="1000" dirty="0"/>
                        <a:t>28</a:t>
                      </a:r>
                    </a:p>
                  </a:txBody>
                  <a:tcPr/>
                </a:tc>
                <a:tc>
                  <a:txBody>
                    <a:bodyPr/>
                    <a:lstStyle/>
                    <a:p>
                      <a:r>
                        <a:rPr lang="en-SG" sz="1000" dirty="0"/>
                        <a:t>85</a:t>
                      </a:r>
                    </a:p>
                  </a:txBody>
                  <a:tcPr/>
                </a:tc>
                <a:tc>
                  <a:txBody>
                    <a:bodyPr/>
                    <a:lstStyle/>
                    <a:p>
                      <a:r>
                        <a:rPr lang="en-SG" sz="1000" dirty="0"/>
                        <a:t>1</a:t>
                      </a:r>
                    </a:p>
                  </a:txBody>
                  <a:tcPr/>
                </a:tc>
                <a:tc>
                  <a:txBody>
                    <a:bodyPr/>
                    <a:lstStyle/>
                    <a:p>
                      <a:r>
                        <a:rPr lang="en-SG" sz="1000" dirty="0"/>
                        <a:t>0</a:t>
                      </a:r>
                    </a:p>
                  </a:txBody>
                  <a:tcPr/>
                </a:tc>
                <a:tc>
                  <a:txBody>
                    <a:bodyPr/>
                    <a:lstStyle/>
                    <a:p>
                      <a:r>
                        <a:rPr lang="en-SG" sz="1000" dirty="0">
                          <a:solidFill>
                            <a:srgbClr val="FF0000"/>
                          </a:solidFill>
                        </a:rPr>
                        <a:t>High risk</a:t>
                      </a:r>
                    </a:p>
                  </a:txBody>
                  <a:tcPr/>
                </a:tc>
                <a:extLst>
                  <a:ext uri="{0D108BD9-81ED-4DB2-BD59-A6C34878D82A}">
                    <a16:rowId xmlns:a16="http://schemas.microsoft.com/office/drawing/2014/main" val="4032716996"/>
                  </a:ext>
                </a:extLst>
              </a:tr>
              <a:tr h="246702">
                <a:tc>
                  <a:txBody>
                    <a:bodyPr/>
                    <a:lstStyle/>
                    <a:p>
                      <a:r>
                        <a:rPr lang="en-SG" sz="1000" dirty="0"/>
                        <a:t>2</a:t>
                      </a:r>
                    </a:p>
                  </a:txBody>
                  <a:tcPr/>
                </a:tc>
                <a:tc>
                  <a:txBody>
                    <a:bodyPr/>
                    <a:lstStyle/>
                    <a:p>
                      <a:r>
                        <a:rPr lang="en-SG" sz="1000" dirty="0"/>
                        <a:t>0</a:t>
                      </a:r>
                    </a:p>
                  </a:txBody>
                  <a:tcPr/>
                </a:tc>
                <a:tc>
                  <a:txBody>
                    <a:bodyPr/>
                    <a:lstStyle/>
                    <a:p>
                      <a:r>
                        <a:rPr lang="en-SG" sz="1000" dirty="0"/>
                        <a:t>45</a:t>
                      </a:r>
                    </a:p>
                  </a:txBody>
                  <a:tcPr/>
                </a:tc>
                <a:tc>
                  <a:txBody>
                    <a:bodyPr/>
                    <a:lstStyle/>
                    <a:p>
                      <a:r>
                        <a:rPr lang="en-SG" sz="1000" dirty="0"/>
                        <a:t>45</a:t>
                      </a:r>
                    </a:p>
                  </a:txBody>
                  <a:tcPr/>
                </a:tc>
                <a:tc>
                  <a:txBody>
                    <a:bodyPr/>
                    <a:lstStyle/>
                    <a:p>
                      <a:r>
                        <a:rPr lang="en-SG" sz="1000" dirty="0"/>
                        <a:t>0</a:t>
                      </a:r>
                    </a:p>
                  </a:txBody>
                  <a:tcPr/>
                </a:tc>
                <a:tc>
                  <a:txBody>
                    <a:bodyPr/>
                    <a:lstStyle/>
                    <a:p>
                      <a:r>
                        <a:rPr lang="en-SG" sz="10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solidFill>
                            <a:srgbClr val="00B050"/>
                          </a:solidFill>
                        </a:rPr>
                        <a:t>Low risk</a:t>
                      </a:r>
                    </a:p>
                  </a:txBody>
                  <a:tcPr/>
                </a:tc>
                <a:extLst>
                  <a:ext uri="{0D108BD9-81ED-4DB2-BD59-A6C34878D82A}">
                    <a16:rowId xmlns:a16="http://schemas.microsoft.com/office/drawing/2014/main" val="2902321882"/>
                  </a:ext>
                </a:extLst>
              </a:tr>
              <a:tr h="246702">
                <a:tc>
                  <a:txBody>
                    <a:bodyPr/>
                    <a:lstStyle/>
                    <a:p>
                      <a:r>
                        <a:rPr lang="en-SG" sz="1000" dirty="0"/>
                        <a:t>3</a:t>
                      </a:r>
                    </a:p>
                  </a:txBody>
                  <a:tcPr/>
                </a:tc>
                <a:tc>
                  <a:txBody>
                    <a:bodyPr/>
                    <a:lstStyle/>
                    <a:p>
                      <a:r>
                        <a:rPr lang="en-SG" sz="1000" dirty="0"/>
                        <a:t>1</a:t>
                      </a:r>
                    </a:p>
                  </a:txBody>
                  <a:tcPr/>
                </a:tc>
                <a:tc>
                  <a:txBody>
                    <a:bodyPr/>
                    <a:lstStyle/>
                    <a:p>
                      <a:r>
                        <a:rPr lang="en-SG" sz="1000" dirty="0"/>
                        <a:t>23</a:t>
                      </a:r>
                    </a:p>
                  </a:txBody>
                  <a:tcPr/>
                </a:tc>
                <a:tc>
                  <a:txBody>
                    <a:bodyPr/>
                    <a:lstStyle/>
                    <a:p>
                      <a:r>
                        <a:rPr lang="en-SG" sz="1000" dirty="0"/>
                        <a:t>30</a:t>
                      </a:r>
                    </a:p>
                  </a:txBody>
                  <a:tcPr/>
                </a:tc>
                <a:tc>
                  <a:txBody>
                    <a:bodyPr/>
                    <a:lstStyle/>
                    <a:p>
                      <a:r>
                        <a:rPr lang="en-SG" sz="1000" dirty="0"/>
                        <a:t>0</a:t>
                      </a:r>
                    </a:p>
                  </a:txBody>
                  <a:tcPr/>
                </a:tc>
                <a:tc>
                  <a:txBody>
                    <a:bodyPr/>
                    <a:lstStyle/>
                    <a:p>
                      <a:r>
                        <a:rPr lang="en-SG" sz="1000" dirty="0"/>
                        <a:t>1</a:t>
                      </a:r>
                    </a:p>
                  </a:txBody>
                  <a:tcPr/>
                </a:tc>
                <a:tc>
                  <a:txBody>
                    <a:bodyPr/>
                    <a:lstStyle/>
                    <a:p>
                      <a:r>
                        <a:rPr lang="en-SG" sz="1000" dirty="0">
                          <a:solidFill>
                            <a:srgbClr val="00B050"/>
                          </a:solidFill>
                        </a:rPr>
                        <a:t>Low risk </a:t>
                      </a:r>
                    </a:p>
                  </a:txBody>
                  <a:tcPr/>
                </a:tc>
                <a:extLst>
                  <a:ext uri="{0D108BD9-81ED-4DB2-BD59-A6C34878D82A}">
                    <a16:rowId xmlns:a16="http://schemas.microsoft.com/office/drawing/2014/main" val="1449688562"/>
                  </a:ext>
                </a:extLst>
              </a:tr>
              <a:tr h="246702">
                <a:tc>
                  <a:txBody>
                    <a:bodyPr/>
                    <a:lstStyle/>
                    <a:p>
                      <a:r>
                        <a:rPr lang="en-SG" sz="1000" dirty="0"/>
                        <a:t>4</a:t>
                      </a:r>
                    </a:p>
                  </a:txBody>
                  <a:tcPr/>
                </a:tc>
                <a:tc>
                  <a:txBody>
                    <a:bodyPr/>
                    <a:lstStyle/>
                    <a:p>
                      <a:r>
                        <a:rPr lang="en-SG" sz="1000" dirty="0"/>
                        <a:t>0</a:t>
                      </a:r>
                    </a:p>
                  </a:txBody>
                  <a:tcPr/>
                </a:tc>
                <a:tc>
                  <a:txBody>
                    <a:bodyPr/>
                    <a:lstStyle/>
                    <a:p>
                      <a:r>
                        <a:rPr lang="en-SG" sz="1000" dirty="0"/>
                        <a:t>65</a:t>
                      </a:r>
                    </a:p>
                  </a:txBody>
                  <a:tcPr/>
                </a:tc>
                <a:tc>
                  <a:txBody>
                    <a:bodyPr/>
                    <a:lstStyle/>
                    <a:p>
                      <a:r>
                        <a:rPr lang="en-SG" sz="1000" dirty="0"/>
                        <a:t>35</a:t>
                      </a:r>
                    </a:p>
                  </a:txBody>
                  <a:tcPr/>
                </a:tc>
                <a:tc>
                  <a:txBody>
                    <a:bodyPr/>
                    <a:lstStyle/>
                    <a:p>
                      <a:r>
                        <a:rPr lang="en-SG" sz="1000" dirty="0"/>
                        <a:t>0</a:t>
                      </a:r>
                    </a:p>
                  </a:txBody>
                  <a:tcPr/>
                </a:tc>
                <a:tc>
                  <a:txBody>
                    <a:bodyPr/>
                    <a:lstStyle/>
                    <a:p>
                      <a:r>
                        <a:rPr lang="en-SG" sz="10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solidFill>
                            <a:srgbClr val="00B050"/>
                          </a:solidFill>
                        </a:rPr>
                        <a:t>Low risk </a:t>
                      </a:r>
                    </a:p>
                  </a:txBody>
                  <a:tcPr/>
                </a:tc>
                <a:extLst>
                  <a:ext uri="{0D108BD9-81ED-4DB2-BD59-A6C34878D82A}">
                    <a16:rowId xmlns:a16="http://schemas.microsoft.com/office/drawing/2014/main" val="2208585272"/>
                  </a:ext>
                </a:extLst>
              </a:tr>
              <a:tr h="246702">
                <a:tc>
                  <a:txBody>
                    <a:bodyPr/>
                    <a:lstStyle/>
                    <a:p>
                      <a:r>
                        <a:rPr lang="en-SG" sz="1000" dirty="0"/>
                        <a:t>5</a:t>
                      </a:r>
                    </a:p>
                  </a:txBody>
                  <a:tcPr/>
                </a:tc>
                <a:tc>
                  <a:txBody>
                    <a:bodyPr/>
                    <a:lstStyle/>
                    <a:p>
                      <a:r>
                        <a:rPr lang="en-SG" sz="1000" dirty="0"/>
                        <a:t>0</a:t>
                      </a:r>
                    </a:p>
                  </a:txBody>
                  <a:tcPr/>
                </a:tc>
                <a:tc>
                  <a:txBody>
                    <a:bodyPr/>
                    <a:lstStyle/>
                    <a:p>
                      <a:r>
                        <a:rPr lang="en-SG" sz="1000" dirty="0"/>
                        <a:t>25</a:t>
                      </a:r>
                    </a:p>
                  </a:txBody>
                  <a:tcPr/>
                </a:tc>
                <a:tc>
                  <a:txBody>
                    <a:bodyPr/>
                    <a:lstStyle/>
                    <a:p>
                      <a:r>
                        <a:rPr lang="en-SG" sz="1000" dirty="0"/>
                        <a:t>70</a:t>
                      </a:r>
                    </a:p>
                  </a:txBody>
                  <a:tcPr/>
                </a:tc>
                <a:tc>
                  <a:txBody>
                    <a:bodyPr/>
                    <a:lstStyle/>
                    <a:p>
                      <a:r>
                        <a:rPr lang="en-SG" sz="1000" dirty="0"/>
                        <a:t>1</a:t>
                      </a:r>
                    </a:p>
                  </a:txBody>
                  <a:tcPr/>
                </a:tc>
                <a:tc>
                  <a:txBody>
                    <a:bodyPr/>
                    <a:lstStyle/>
                    <a:p>
                      <a:r>
                        <a:rPr lang="en-SG" sz="1000" dirty="0"/>
                        <a:t>0</a:t>
                      </a:r>
                    </a:p>
                  </a:txBody>
                  <a:tcPr/>
                </a:tc>
                <a:tc>
                  <a:txBody>
                    <a:bodyPr/>
                    <a:lstStyle/>
                    <a:p>
                      <a:r>
                        <a:rPr lang="en-SG" sz="1000" dirty="0">
                          <a:solidFill>
                            <a:srgbClr val="FF0000"/>
                          </a:solidFill>
                        </a:rPr>
                        <a:t>High Risk</a:t>
                      </a:r>
                    </a:p>
                  </a:txBody>
                  <a:tcPr/>
                </a:tc>
                <a:extLst>
                  <a:ext uri="{0D108BD9-81ED-4DB2-BD59-A6C34878D82A}">
                    <a16:rowId xmlns:a16="http://schemas.microsoft.com/office/drawing/2014/main" val="593383155"/>
                  </a:ext>
                </a:extLst>
              </a:tr>
              <a:tr h="246702">
                <a:tc>
                  <a:txBody>
                    <a:bodyPr/>
                    <a:lstStyle/>
                    <a:p>
                      <a:r>
                        <a:rPr lang="en-SG" sz="1000" dirty="0"/>
                        <a:t>6</a:t>
                      </a:r>
                    </a:p>
                  </a:txBody>
                  <a:tcPr/>
                </a:tc>
                <a:tc>
                  <a:txBody>
                    <a:bodyPr/>
                    <a:lstStyle/>
                    <a:p>
                      <a:r>
                        <a:rPr lang="en-SG" sz="1000" dirty="0"/>
                        <a:t>0</a:t>
                      </a:r>
                    </a:p>
                  </a:txBody>
                  <a:tcPr/>
                </a:tc>
                <a:tc>
                  <a:txBody>
                    <a:bodyPr/>
                    <a:lstStyle/>
                    <a:p>
                      <a:r>
                        <a:rPr lang="en-SG" sz="1000" dirty="0"/>
                        <a:t>24</a:t>
                      </a:r>
                    </a:p>
                  </a:txBody>
                  <a:tcPr/>
                </a:tc>
                <a:tc>
                  <a:txBody>
                    <a:bodyPr/>
                    <a:lstStyle/>
                    <a:p>
                      <a:r>
                        <a:rPr lang="en-SG" sz="1000" dirty="0"/>
                        <a:t>55</a:t>
                      </a:r>
                    </a:p>
                  </a:txBody>
                  <a:tcPr/>
                </a:tc>
                <a:tc>
                  <a:txBody>
                    <a:bodyPr/>
                    <a:lstStyle/>
                    <a:p>
                      <a:r>
                        <a:rPr lang="en-SG" sz="1000" dirty="0"/>
                        <a:t>0</a:t>
                      </a:r>
                    </a:p>
                  </a:txBody>
                  <a:tcPr/>
                </a:tc>
                <a:tc>
                  <a:txBody>
                    <a:bodyPr/>
                    <a:lstStyle/>
                    <a:p>
                      <a:r>
                        <a:rPr lang="en-SG" sz="10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000" dirty="0">
                          <a:solidFill>
                            <a:srgbClr val="00B050"/>
                          </a:solidFill>
                        </a:rPr>
                        <a:t>Low risk </a:t>
                      </a:r>
                    </a:p>
                  </a:txBody>
                  <a:tcPr/>
                </a:tc>
                <a:extLst>
                  <a:ext uri="{0D108BD9-81ED-4DB2-BD59-A6C34878D82A}">
                    <a16:rowId xmlns:a16="http://schemas.microsoft.com/office/drawing/2014/main" val="4266459468"/>
                  </a:ext>
                </a:extLst>
              </a:tr>
            </a:tbl>
          </a:graphicData>
        </a:graphic>
      </p:graphicFrame>
      <p:sp>
        <p:nvSpPr>
          <p:cNvPr id="10" name="TextBox 9">
            <a:extLst>
              <a:ext uri="{FF2B5EF4-FFF2-40B4-BE49-F238E27FC236}">
                <a16:creationId xmlns:a16="http://schemas.microsoft.com/office/drawing/2014/main" id="{B320B11F-C83B-4F51-B641-F44D80983A0D}"/>
              </a:ext>
            </a:extLst>
          </p:cNvPr>
          <p:cNvSpPr txBox="1"/>
          <p:nvPr/>
        </p:nvSpPr>
        <p:spPr>
          <a:xfrm>
            <a:off x="7835816" y="3855496"/>
            <a:ext cx="3834704" cy="369332"/>
          </a:xfrm>
          <a:prstGeom prst="rect">
            <a:avLst/>
          </a:prstGeom>
          <a:noFill/>
        </p:spPr>
        <p:txBody>
          <a:bodyPr wrap="none" rtlCol="0">
            <a:spAutoFit/>
          </a:bodyPr>
          <a:lstStyle/>
          <a:p>
            <a:r>
              <a:rPr lang="en-SG" dirty="0"/>
              <a:t>Example of 5 INPUT and 1 OUTPUT</a:t>
            </a:r>
          </a:p>
        </p:txBody>
      </p:sp>
      <p:sp>
        <p:nvSpPr>
          <p:cNvPr id="5" name="Speech Bubble: Oval 4">
            <a:extLst>
              <a:ext uri="{FF2B5EF4-FFF2-40B4-BE49-F238E27FC236}">
                <a16:creationId xmlns:a16="http://schemas.microsoft.com/office/drawing/2014/main" id="{BBE79B41-4E2C-4A05-9254-E6EA23ABB361}"/>
              </a:ext>
            </a:extLst>
          </p:cNvPr>
          <p:cNvSpPr/>
          <p:nvPr/>
        </p:nvSpPr>
        <p:spPr>
          <a:xfrm>
            <a:off x="2981324" y="1583983"/>
            <a:ext cx="3103927" cy="674407"/>
          </a:xfrm>
          <a:prstGeom prst="wedgeEllipseCallout">
            <a:avLst>
              <a:gd name="adj1" fmla="val 47005"/>
              <a:gd name="adj2" fmla="val 91110"/>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rPr>
              <a:t>Neurons are also called </a:t>
            </a:r>
            <a:r>
              <a:rPr lang="en-US" sz="1300" dirty="0" err="1">
                <a:solidFill>
                  <a:schemeClr val="tx1"/>
                </a:solidFill>
              </a:rPr>
              <a:t>perceptrons</a:t>
            </a:r>
            <a:endParaRPr lang="en-US" sz="1300" dirty="0">
              <a:solidFill>
                <a:schemeClr val="tx1"/>
              </a:solidFill>
            </a:endParaRPr>
          </a:p>
        </p:txBody>
      </p:sp>
    </p:spTree>
    <p:extLst>
      <p:ext uri="{BB962C8B-B14F-4D97-AF65-F5344CB8AC3E}">
        <p14:creationId xmlns:p14="http://schemas.microsoft.com/office/powerpoint/2010/main" val="1208639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780C5916-E8A0-4E93-A985-082C5A8E4BFA}"/>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27410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A6EAC8-7AA4-45FE-8443-0C5963D97E9C}"/>
              </a:ext>
            </a:extLst>
          </p:cNvPr>
          <p:cNvSpPr>
            <a:spLocks noGrp="1"/>
          </p:cNvSpPr>
          <p:nvPr>
            <p:ph type="title"/>
          </p:nvPr>
        </p:nvSpPr>
        <p:spPr>
          <a:xfrm>
            <a:off x="1028700" y="555173"/>
            <a:ext cx="10134600" cy="561733"/>
          </a:xfrm>
        </p:spPr>
        <p:txBody>
          <a:bodyPr>
            <a:normAutofit fontScale="90000"/>
          </a:bodyPr>
          <a:lstStyle/>
          <a:p>
            <a:pPr algn="ctr"/>
            <a:r>
              <a:rPr lang="en-US" sz="3200" dirty="0"/>
              <a:t>Under the bonnet of AI -&gt; </a:t>
            </a:r>
            <a:r>
              <a:rPr lang="en-US"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NEURAL NETWORKS (NN)</a:t>
            </a:r>
            <a:endParaRPr lang="en-SG" sz="3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 name="Content Placeholder 2">
            <a:extLst>
              <a:ext uri="{FF2B5EF4-FFF2-40B4-BE49-F238E27FC236}">
                <a16:creationId xmlns:a16="http://schemas.microsoft.com/office/drawing/2014/main" id="{2D3A0C9E-7034-46EB-8038-DE3334857E82}"/>
              </a:ext>
            </a:extLst>
          </p:cNvPr>
          <p:cNvSpPr>
            <a:spLocks noGrp="1"/>
          </p:cNvSpPr>
          <p:nvPr>
            <p:ph idx="1"/>
          </p:nvPr>
        </p:nvSpPr>
        <p:spPr>
          <a:xfrm>
            <a:off x="1028699" y="1177859"/>
            <a:ext cx="10892703" cy="5457833"/>
          </a:xfrm>
        </p:spPr>
        <p:txBody>
          <a:bodyPr>
            <a:normAutofit/>
          </a:bodyPr>
          <a:lstStyle/>
          <a:p>
            <a:pPr marL="342900" indent="-342900">
              <a:buFont typeface="Arial" panose="020B0604020202020204" pitchFamily="34" charset="0"/>
              <a:buChar char="•"/>
            </a:pPr>
            <a:r>
              <a:rPr lang="en-SG" sz="1600" dirty="0"/>
              <a:t>Perceptron structure, weights vector</a:t>
            </a:r>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r>
              <a:rPr lang="en-SG" sz="1600" dirty="0"/>
              <a:t>A weights matrix is formed by augmenting all the weight vectors of each perceptron in a layer. Every layer has a weights matrix.</a:t>
            </a:r>
          </a:p>
          <a:p>
            <a:pPr marL="342900" indent="-342900">
              <a:buFont typeface="Arial" panose="020B0604020202020204" pitchFamily="34" charset="0"/>
              <a:buChar char="•"/>
            </a:pPr>
            <a:r>
              <a:rPr lang="en-SG" sz="1600" dirty="0"/>
              <a:t> Certain neurons fire if inputs are aligned with their weights. Similar to a dot product. </a:t>
            </a:r>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sz="1600" dirty="0"/>
          </a:p>
          <a:p>
            <a:pPr marL="342900" indent="-342900">
              <a:buFont typeface="Arial" panose="020B0604020202020204" pitchFamily="34" charset="0"/>
              <a:buChar char="•"/>
            </a:pPr>
            <a:endParaRPr lang="en-SG" dirty="0"/>
          </a:p>
        </p:txBody>
      </p:sp>
      <p:pic>
        <p:nvPicPr>
          <p:cNvPr id="5" name="Picture 4">
            <a:extLst>
              <a:ext uri="{FF2B5EF4-FFF2-40B4-BE49-F238E27FC236}">
                <a16:creationId xmlns:a16="http://schemas.microsoft.com/office/drawing/2014/main" id="{DA4A3476-7789-4FD0-8759-4F272201FC85}"/>
              </a:ext>
            </a:extLst>
          </p:cNvPr>
          <p:cNvPicPr>
            <a:picLocks noChangeAspect="1"/>
          </p:cNvPicPr>
          <p:nvPr/>
        </p:nvPicPr>
        <p:blipFill>
          <a:blip r:embed="rId3"/>
          <a:stretch>
            <a:fillRect/>
          </a:stretch>
        </p:blipFill>
        <p:spPr>
          <a:xfrm>
            <a:off x="162002" y="1519046"/>
            <a:ext cx="3558655" cy="3191186"/>
          </a:xfrm>
          <a:prstGeom prst="rect">
            <a:avLst/>
          </a:prstGeom>
        </p:spPr>
      </p:pic>
      <p:pic>
        <p:nvPicPr>
          <p:cNvPr id="9" name="Picture 8">
            <a:extLst>
              <a:ext uri="{FF2B5EF4-FFF2-40B4-BE49-F238E27FC236}">
                <a16:creationId xmlns:a16="http://schemas.microsoft.com/office/drawing/2014/main" id="{6535977B-B392-4020-9285-6425A02DA987}"/>
              </a:ext>
            </a:extLst>
          </p:cNvPr>
          <p:cNvPicPr>
            <a:picLocks noChangeAspect="1"/>
          </p:cNvPicPr>
          <p:nvPr/>
        </p:nvPicPr>
        <p:blipFill>
          <a:blip r:embed="rId4"/>
          <a:stretch>
            <a:fillRect/>
          </a:stretch>
        </p:blipFill>
        <p:spPr>
          <a:xfrm>
            <a:off x="3807716" y="2933819"/>
            <a:ext cx="3233163" cy="1776413"/>
          </a:xfrm>
          <a:prstGeom prst="rect">
            <a:avLst/>
          </a:prstGeom>
        </p:spPr>
      </p:pic>
      <p:pic>
        <p:nvPicPr>
          <p:cNvPr id="23" name="Picture 22">
            <a:extLst>
              <a:ext uri="{FF2B5EF4-FFF2-40B4-BE49-F238E27FC236}">
                <a16:creationId xmlns:a16="http://schemas.microsoft.com/office/drawing/2014/main" id="{8AE76440-DBF4-4FC6-8477-76B8A6860F3C}"/>
              </a:ext>
            </a:extLst>
          </p:cNvPr>
          <p:cNvPicPr>
            <a:picLocks noChangeAspect="1"/>
          </p:cNvPicPr>
          <p:nvPr/>
        </p:nvPicPr>
        <p:blipFill>
          <a:blip r:embed="rId5"/>
          <a:stretch>
            <a:fillRect/>
          </a:stretch>
        </p:blipFill>
        <p:spPr>
          <a:xfrm>
            <a:off x="7253720" y="1967763"/>
            <a:ext cx="4667682" cy="2466024"/>
          </a:xfrm>
          <a:prstGeom prst="rect">
            <a:avLst/>
          </a:prstGeom>
        </p:spPr>
      </p:pic>
      <p:pic>
        <p:nvPicPr>
          <p:cNvPr id="25" name="Picture 24">
            <a:extLst>
              <a:ext uri="{FF2B5EF4-FFF2-40B4-BE49-F238E27FC236}">
                <a16:creationId xmlns:a16="http://schemas.microsoft.com/office/drawing/2014/main" id="{B18D5A6B-C38F-466D-9421-C61BD13ED45A}"/>
              </a:ext>
            </a:extLst>
          </p:cNvPr>
          <p:cNvPicPr>
            <a:picLocks noChangeAspect="1"/>
          </p:cNvPicPr>
          <p:nvPr/>
        </p:nvPicPr>
        <p:blipFill>
          <a:blip r:embed="rId4"/>
          <a:stretch>
            <a:fillRect/>
          </a:stretch>
        </p:blipFill>
        <p:spPr>
          <a:xfrm>
            <a:off x="8616812" y="5211107"/>
            <a:ext cx="2769592" cy="1521711"/>
          </a:xfrm>
          <a:prstGeom prst="rect">
            <a:avLst/>
          </a:prstGeom>
        </p:spPr>
      </p:pic>
      <p:pic>
        <p:nvPicPr>
          <p:cNvPr id="26" name="Picture 25">
            <a:extLst>
              <a:ext uri="{FF2B5EF4-FFF2-40B4-BE49-F238E27FC236}">
                <a16:creationId xmlns:a16="http://schemas.microsoft.com/office/drawing/2014/main" id="{94FF4D06-A3C4-4156-AAAC-04ADB5033097}"/>
              </a:ext>
            </a:extLst>
          </p:cNvPr>
          <p:cNvPicPr>
            <a:picLocks noChangeAspect="1"/>
          </p:cNvPicPr>
          <p:nvPr/>
        </p:nvPicPr>
        <p:blipFill>
          <a:blip r:embed="rId6"/>
          <a:stretch>
            <a:fillRect/>
          </a:stretch>
        </p:blipFill>
        <p:spPr>
          <a:xfrm>
            <a:off x="3291199" y="5523059"/>
            <a:ext cx="4237920" cy="1010413"/>
          </a:xfrm>
          <a:prstGeom prst="rect">
            <a:avLst/>
          </a:prstGeom>
        </p:spPr>
      </p:pic>
      <p:pic>
        <p:nvPicPr>
          <p:cNvPr id="27" name="Picture 26">
            <a:extLst>
              <a:ext uri="{FF2B5EF4-FFF2-40B4-BE49-F238E27FC236}">
                <a16:creationId xmlns:a16="http://schemas.microsoft.com/office/drawing/2014/main" id="{99447001-F9D8-4F0D-AE8E-CF8DE9B84472}"/>
              </a:ext>
            </a:extLst>
          </p:cNvPr>
          <p:cNvPicPr>
            <a:picLocks noChangeAspect="1"/>
          </p:cNvPicPr>
          <p:nvPr/>
        </p:nvPicPr>
        <p:blipFill>
          <a:blip r:embed="rId7"/>
          <a:stretch>
            <a:fillRect/>
          </a:stretch>
        </p:blipFill>
        <p:spPr>
          <a:xfrm>
            <a:off x="4020074" y="1502654"/>
            <a:ext cx="2590450" cy="1370212"/>
          </a:xfrm>
          <a:prstGeom prst="rect">
            <a:avLst/>
          </a:prstGeom>
        </p:spPr>
      </p:pic>
    </p:spTree>
    <p:extLst>
      <p:ext uri="{BB962C8B-B14F-4D97-AF65-F5344CB8AC3E}">
        <p14:creationId xmlns:p14="http://schemas.microsoft.com/office/powerpoint/2010/main" val="25474901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780C5916-E8A0-4E93-A985-082C5A8E4BFA}"/>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27410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A6EAC8-7AA4-45FE-8443-0C5963D97E9C}"/>
              </a:ext>
            </a:extLst>
          </p:cNvPr>
          <p:cNvSpPr>
            <a:spLocks noGrp="1"/>
          </p:cNvSpPr>
          <p:nvPr>
            <p:ph type="title"/>
          </p:nvPr>
        </p:nvSpPr>
        <p:spPr>
          <a:xfrm>
            <a:off x="1028700" y="555173"/>
            <a:ext cx="10134600" cy="561733"/>
          </a:xfrm>
        </p:spPr>
        <p:txBody>
          <a:bodyPr>
            <a:normAutofit fontScale="90000"/>
          </a:bodyPr>
          <a:lstStyle/>
          <a:p>
            <a:pPr algn="ctr"/>
            <a:r>
              <a:rPr lang="en-US" sz="3200" dirty="0"/>
              <a:t>Under the bonnet of AI -&gt; </a:t>
            </a:r>
            <a:r>
              <a:rPr lang="en-US"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NEURAL NETWORKS (NN)</a:t>
            </a:r>
            <a:endParaRPr lang="en-SG" sz="3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 name="Content Placeholder 2">
            <a:extLst>
              <a:ext uri="{FF2B5EF4-FFF2-40B4-BE49-F238E27FC236}">
                <a16:creationId xmlns:a16="http://schemas.microsoft.com/office/drawing/2014/main" id="{2D3A0C9E-7034-46EB-8038-DE3334857E82}"/>
              </a:ext>
            </a:extLst>
          </p:cNvPr>
          <p:cNvSpPr>
            <a:spLocks noGrp="1"/>
          </p:cNvSpPr>
          <p:nvPr>
            <p:ph idx="1"/>
          </p:nvPr>
        </p:nvSpPr>
        <p:spPr>
          <a:xfrm>
            <a:off x="637563" y="1116905"/>
            <a:ext cx="11182525" cy="5741095"/>
          </a:xfrm>
        </p:spPr>
        <p:txBody>
          <a:bodyPr>
            <a:normAutofit/>
          </a:bodyPr>
          <a:lstStyle/>
          <a:p>
            <a:pPr marL="342900" indent="-342900">
              <a:buFont typeface="Arial" panose="020B0604020202020204" pitchFamily="34" charset="0"/>
              <a:buChar char="•"/>
            </a:pPr>
            <a:r>
              <a:rPr lang="en-SG" sz="1600" dirty="0"/>
              <a:t>Different neurons learn different aspects from input data. Which neuron learns what depends on its random weights initialization.</a:t>
            </a:r>
          </a:p>
          <a:p>
            <a:pPr marL="342900" indent="-342900">
              <a:buFont typeface="Arial" panose="020B0604020202020204" pitchFamily="34" charset="0"/>
              <a:buChar char="•"/>
            </a:pPr>
            <a:r>
              <a:rPr lang="en-SG" sz="1600" dirty="0"/>
              <a:t>Neurons that fire together, wire together. Necessary that these neurons are connected all the way to the output neurons.</a:t>
            </a:r>
          </a:p>
          <a:p>
            <a:pPr marL="342900" indent="-342900">
              <a:buFont typeface="Arial" panose="020B0604020202020204" pitchFamily="34" charset="0"/>
              <a:buChar char="•"/>
            </a:pPr>
            <a:r>
              <a:rPr lang="en-SG" sz="1600" dirty="0"/>
              <a:t>Weights of the neurons amplify the input signal and connect that input signal through the neurons of the different layers all the way to the correct neuron that correctly classifies the input signal.</a:t>
            </a:r>
          </a:p>
          <a:p>
            <a:pPr marL="342900" indent="-342900">
              <a:buFont typeface="Arial" panose="020B0604020202020204" pitchFamily="34" charset="0"/>
              <a:buChar char="•"/>
            </a:pPr>
            <a:r>
              <a:rPr lang="en-SG" dirty="0"/>
              <a:t>OUTPUT of a NN is a prediction/classification.</a:t>
            </a:r>
          </a:p>
          <a:p>
            <a:pPr marL="342900" indent="-342900">
              <a:buFont typeface="Arial" panose="020B0604020202020204" pitchFamily="34" charset="0"/>
              <a:buChar char="•"/>
            </a:pPr>
            <a:r>
              <a:rPr lang="en-SG" dirty="0"/>
              <a:t>The circles of same colour indicate the neurons that fire for a particular </a:t>
            </a:r>
            <a:r>
              <a:rPr lang="en-SG" dirty="0" err="1"/>
              <a:t>class.n</a:t>
            </a:r>
            <a:endParaRPr lang="en-SG" dirty="0"/>
          </a:p>
        </p:txBody>
      </p:sp>
      <p:pic>
        <p:nvPicPr>
          <p:cNvPr id="7" name="Picture 6">
            <a:extLst>
              <a:ext uri="{FF2B5EF4-FFF2-40B4-BE49-F238E27FC236}">
                <a16:creationId xmlns:a16="http://schemas.microsoft.com/office/drawing/2014/main" id="{780A42CF-5DE4-411D-990B-98BF2355A6D0}"/>
              </a:ext>
            </a:extLst>
          </p:cNvPr>
          <p:cNvPicPr>
            <a:picLocks noChangeAspect="1"/>
          </p:cNvPicPr>
          <p:nvPr/>
        </p:nvPicPr>
        <p:blipFill>
          <a:blip r:embed="rId3"/>
          <a:stretch>
            <a:fillRect/>
          </a:stretch>
        </p:blipFill>
        <p:spPr>
          <a:xfrm>
            <a:off x="3443892" y="3801463"/>
            <a:ext cx="4377386" cy="2501364"/>
          </a:xfrm>
          <a:prstGeom prst="rect">
            <a:avLst/>
          </a:prstGeom>
        </p:spPr>
      </p:pic>
    </p:spTree>
    <p:extLst>
      <p:ext uri="{BB962C8B-B14F-4D97-AF65-F5344CB8AC3E}">
        <p14:creationId xmlns:p14="http://schemas.microsoft.com/office/powerpoint/2010/main" val="1226754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10019E8F-A109-4E08-AFF9-69FC750289BF}"/>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42254C4-0E5A-4688-AE44-FC59D8AB4936}"/>
              </a:ext>
            </a:extLst>
          </p:cNvPr>
          <p:cNvPicPr>
            <a:picLocks noChangeAspect="1"/>
          </p:cNvPicPr>
          <p:nvPr/>
        </p:nvPicPr>
        <p:blipFill>
          <a:blip r:embed="rId3"/>
          <a:stretch>
            <a:fillRect/>
          </a:stretch>
        </p:blipFill>
        <p:spPr>
          <a:xfrm>
            <a:off x="8448819" y="188142"/>
            <a:ext cx="3702224" cy="3779851"/>
          </a:xfrm>
          <a:prstGeom prst="rect">
            <a:avLst/>
          </a:prstGeom>
        </p:spPr>
      </p:pic>
      <p:sp>
        <p:nvSpPr>
          <p:cNvPr id="2" name="Title 1">
            <a:extLst>
              <a:ext uri="{FF2B5EF4-FFF2-40B4-BE49-F238E27FC236}">
                <a16:creationId xmlns:a16="http://schemas.microsoft.com/office/drawing/2014/main" id="{BF5F36BE-4C30-4CB7-8560-075C97B7F6A5}"/>
              </a:ext>
            </a:extLst>
          </p:cNvPr>
          <p:cNvSpPr>
            <a:spLocks noGrp="1"/>
          </p:cNvSpPr>
          <p:nvPr>
            <p:ph type="title"/>
          </p:nvPr>
        </p:nvSpPr>
        <p:spPr>
          <a:xfrm>
            <a:off x="796954" y="723901"/>
            <a:ext cx="10366346" cy="810260"/>
          </a:xfrm>
        </p:spPr>
        <p:txBody>
          <a:bodyPr/>
          <a:lstStyle/>
          <a:p>
            <a:r>
              <a:rPr lang="en-US" dirty="0"/>
              <a:t>Training - Forward Pass (1</a:t>
            </a:r>
            <a:r>
              <a:rPr lang="en-US" baseline="30000" dirty="0"/>
              <a:t>st</a:t>
            </a:r>
            <a:r>
              <a:rPr lang="en-US" dirty="0"/>
              <a:t> step in iteration)</a:t>
            </a:r>
            <a:endParaRPr lang="en-SG" dirty="0"/>
          </a:p>
        </p:txBody>
      </p:sp>
      <p:sp>
        <p:nvSpPr>
          <p:cNvPr id="3" name="Content Placeholder 2">
            <a:extLst>
              <a:ext uri="{FF2B5EF4-FFF2-40B4-BE49-F238E27FC236}">
                <a16:creationId xmlns:a16="http://schemas.microsoft.com/office/drawing/2014/main" id="{FE503B5D-2E2A-4D67-8DE2-43561C84BC5E}"/>
              </a:ext>
            </a:extLst>
          </p:cNvPr>
          <p:cNvSpPr>
            <a:spLocks noGrp="1"/>
          </p:cNvSpPr>
          <p:nvPr>
            <p:ph idx="1"/>
          </p:nvPr>
        </p:nvSpPr>
        <p:spPr/>
        <p:txBody>
          <a:bodyPr/>
          <a:lstStyle/>
          <a:p>
            <a:endParaRPr lang="en-SG" dirty="0"/>
          </a:p>
          <a:p>
            <a:endParaRPr lang="en-SG" dirty="0"/>
          </a:p>
        </p:txBody>
      </p:sp>
      <p:sp>
        <p:nvSpPr>
          <p:cNvPr id="5" name="Content Placeholder 2">
            <a:extLst>
              <a:ext uri="{FF2B5EF4-FFF2-40B4-BE49-F238E27FC236}">
                <a16:creationId xmlns:a16="http://schemas.microsoft.com/office/drawing/2014/main" id="{B47209F1-B6B5-4FDE-9B8F-AA6C96CE1D1D}"/>
              </a:ext>
            </a:extLst>
          </p:cNvPr>
          <p:cNvSpPr txBox="1">
            <a:spLocks/>
          </p:cNvSpPr>
          <p:nvPr/>
        </p:nvSpPr>
        <p:spPr>
          <a:xfrm>
            <a:off x="1181100" y="2314303"/>
            <a:ext cx="10134600" cy="3969342"/>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SG" dirty="0"/>
          </a:p>
          <a:p>
            <a:endParaRPr lang="en-SG" dirty="0"/>
          </a:p>
        </p:txBody>
      </p:sp>
      <p:sp>
        <p:nvSpPr>
          <p:cNvPr id="7" name="Content Placeholder 2">
            <a:extLst>
              <a:ext uri="{FF2B5EF4-FFF2-40B4-BE49-F238E27FC236}">
                <a16:creationId xmlns:a16="http://schemas.microsoft.com/office/drawing/2014/main" id="{816218A7-7A17-4582-B515-530C19894856}"/>
              </a:ext>
            </a:extLst>
          </p:cNvPr>
          <p:cNvSpPr txBox="1">
            <a:spLocks/>
          </p:cNvSpPr>
          <p:nvPr/>
        </p:nvSpPr>
        <p:spPr>
          <a:xfrm>
            <a:off x="561811" y="1618051"/>
            <a:ext cx="11400890" cy="4825359"/>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SG" dirty="0"/>
              <a:t>Randomly initialize weights close to zero and choose a training sample</a:t>
            </a:r>
          </a:p>
          <a:p>
            <a:pPr marL="342900" indent="-342900">
              <a:buFont typeface="Arial" panose="020B0604020202020204" pitchFamily="34" charset="0"/>
              <a:buChar char="•"/>
            </a:pPr>
            <a:r>
              <a:rPr lang="en-SG" dirty="0"/>
              <a:t>Perform matrix multiplication and compute prediction</a:t>
            </a:r>
          </a:p>
          <a:p>
            <a:pPr marL="342900" indent="-342900">
              <a:buFont typeface="Arial" panose="020B0604020202020204" pitchFamily="34" charset="0"/>
              <a:buChar char="•"/>
            </a:pPr>
            <a:r>
              <a:rPr lang="en-SG" dirty="0"/>
              <a:t>We have to supervise the training process through ground-truth or target</a:t>
            </a:r>
          </a:p>
          <a:p>
            <a:r>
              <a:rPr lang="en-SG" dirty="0"/>
              <a:t>      so that we can correct the network each time it makes a mistake.</a:t>
            </a:r>
          </a:p>
          <a:p>
            <a:pPr marL="342900" indent="-342900">
              <a:buFont typeface="Arial" panose="020B0604020202020204" pitchFamily="34" charset="0"/>
              <a:buChar char="•"/>
            </a:pPr>
            <a:r>
              <a:rPr lang="en-SG" dirty="0"/>
              <a:t>Loss function is to </a:t>
            </a:r>
            <a:r>
              <a:rPr lang="en-US" dirty="0"/>
              <a:t>Evaluate the "goodness" of our predictions, </a:t>
            </a:r>
            <a:endParaRPr lang="en-SG" dirty="0"/>
          </a:p>
          <a:p>
            <a:pPr marL="617220" lvl="1" indent="-342900"/>
            <a:r>
              <a:rPr lang="en-SG" dirty="0"/>
              <a:t>Mean squared error LOSS</a:t>
            </a:r>
          </a:p>
          <a:p>
            <a:pPr marL="617220" lvl="2" indent="-342900"/>
            <a:endParaRPr lang="en-SG" dirty="0"/>
          </a:p>
          <a:p>
            <a:pPr marL="617220" lvl="2" indent="-342900"/>
            <a:endParaRPr lang="en-SG" dirty="0"/>
          </a:p>
          <a:p>
            <a:pPr marL="617220" lvl="2" indent="-342900">
              <a:buFont typeface="Arial" panose="020B0604020202020204" pitchFamily="34" charset="0"/>
              <a:buChar char="•"/>
            </a:pPr>
            <a:r>
              <a:rPr lang="en-SG" dirty="0"/>
              <a:t>Loss function is a function of all the weights from all the layers (i.e. multivariable function).</a:t>
            </a:r>
          </a:p>
          <a:p>
            <a:pPr marL="342900" indent="-342900">
              <a:buFont typeface="Arial" panose="020B0604020202020204" pitchFamily="34" charset="0"/>
              <a:buChar char="•"/>
            </a:pPr>
            <a:r>
              <a:rPr lang="en-SG" dirty="0"/>
              <a:t>Initially, during the first few iterations, the loss will be high as the weights have not learnt the different aspects or representations of the input data that correspond to a particular class of output.</a:t>
            </a:r>
          </a:p>
        </p:txBody>
      </p:sp>
      <p:pic>
        <p:nvPicPr>
          <p:cNvPr id="8" name="Picture 7">
            <a:extLst>
              <a:ext uri="{FF2B5EF4-FFF2-40B4-BE49-F238E27FC236}">
                <a16:creationId xmlns:a16="http://schemas.microsoft.com/office/drawing/2014/main" id="{9F285919-E7AC-431F-968D-11464193DA25}"/>
              </a:ext>
            </a:extLst>
          </p:cNvPr>
          <p:cNvPicPr>
            <a:picLocks noChangeAspect="1"/>
          </p:cNvPicPr>
          <p:nvPr/>
        </p:nvPicPr>
        <p:blipFill>
          <a:blip r:embed="rId4"/>
          <a:stretch>
            <a:fillRect/>
          </a:stretch>
        </p:blipFill>
        <p:spPr>
          <a:xfrm>
            <a:off x="1312615" y="4232649"/>
            <a:ext cx="2428875" cy="666750"/>
          </a:xfrm>
          <a:prstGeom prst="rect">
            <a:avLst/>
          </a:prstGeom>
        </p:spPr>
      </p:pic>
      <p:pic>
        <p:nvPicPr>
          <p:cNvPr id="13" name="Picture 12">
            <a:extLst>
              <a:ext uri="{FF2B5EF4-FFF2-40B4-BE49-F238E27FC236}">
                <a16:creationId xmlns:a16="http://schemas.microsoft.com/office/drawing/2014/main" id="{8BD8197D-FF05-4B29-A534-822DEF1A0CFE}"/>
              </a:ext>
            </a:extLst>
          </p:cNvPr>
          <p:cNvPicPr>
            <a:picLocks noChangeAspect="1"/>
          </p:cNvPicPr>
          <p:nvPr/>
        </p:nvPicPr>
        <p:blipFill>
          <a:blip r:embed="rId5"/>
          <a:stretch>
            <a:fillRect/>
          </a:stretch>
        </p:blipFill>
        <p:spPr>
          <a:xfrm>
            <a:off x="4303301" y="4232649"/>
            <a:ext cx="4327958" cy="579910"/>
          </a:xfrm>
          <a:prstGeom prst="rect">
            <a:avLst/>
          </a:prstGeom>
        </p:spPr>
      </p:pic>
    </p:spTree>
    <p:extLst>
      <p:ext uri="{BB962C8B-B14F-4D97-AF65-F5344CB8AC3E}">
        <p14:creationId xmlns:p14="http://schemas.microsoft.com/office/powerpoint/2010/main" val="2499855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10019E8F-A109-4E08-AFF9-69FC750289BF}"/>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5F36BE-4C30-4CB7-8560-075C97B7F6A5}"/>
              </a:ext>
            </a:extLst>
          </p:cNvPr>
          <p:cNvSpPr>
            <a:spLocks noGrp="1"/>
          </p:cNvSpPr>
          <p:nvPr>
            <p:ph type="title"/>
          </p:nvPr>
        </p:nvSpPr>
        <p:spPr>
          <a:xfrm>
            <a:off x="805343" y="723901"/>
            <a:ext cx="10821797" cy="810260"/>
          </a:xfrm>
        </p:spPr>
        <p:txBody>
          <a:bodyPr>
            <a:normAutofit fontScale="90000"/>
          </a:bodyPr>
          <a:lstStyle/>
          <a:p>
            <a:r>
              <a:rPr lang="en-US" dirty="0"/>
              <a:t>Training - Gradient Backpropagation, Learning!! (2</a:t>
            </a:r>
            <a:r>
              <a:rPr lang="en-US" baseline="30000" dirty="0"/>
              <a:t>nd</a:t>
            </a:r>
            <a:r>
              <a:rPr lang="en-US" dirty="0"/>
              <a:t> step in iteration)</a:t>
            </a:r>
            <a:endParaRPr lang="en-SG" dirty="0"/>
          </a:p>
        </p:txBody>
      </p:sp>
      <p:sp>
        <p:nvSpPr>
          <p:cNvPr id="3" name="Content Placeholder 2">
            <a:extLst>
              <a:ext uri="{FF2B5EF4-FFF2-40B4-BE49-F238E27FC236}">
                <a16:creationId xmlns:a16="http://schemas.microsoft.com/office/drawing/2014/main" id="{FE503B5D-2E2A-4D67-8DE2-43561C84BC5E}"/>
              </a:ext>
            </a:extLst>
          </p:cNvPr>
          <p:cNvSpPr>
            <a:spLocks noGrp="1"/>
          </p:cNvSpPr>
          <p:nvPr>
            <p:ph idx="1"/>
          </p:nvPr>
        </p:nvSpPr>
        <p:spPr>
          <a:xfrm>
            <a:off x="609599" y="1587547"/>
            <a:ext cx="10501745" cy="5090343"/>
          </a:xfrm>
        </p:spPr>
        <p:txBody>
          <a:bodyPr>
            <a:normAutofit/>
          </a:bodyPr>
          <a:lstStyle/>
          <a:p>
            <a:pPr marL="342900" indent="-342900">
              <a:buFont typeface="Arial" panose="020B0604020202020204" pitchFamily="34" charset="0"/>
              <a:buChar char="•"/>
            </a:pPr>
            <a:r>
              <a:rPr lang="en-SG" dirty="0"/>
              <a:t>How can we change/update the weights such that the loss can be minimized?</a:t>
            </a:r>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r>
              <a:rPr lang="en-SG" dirty="0"/>
              <a:t>Perform stochastic Gradient descent on the loss surface generated by each sample</a:t>
            </a:r>
          </a:p>
          <a:p>
            <a:pPr marL="342900" indent="-342900">
              <a:buFont typeface="Arial" panose="020B0604020202020204" pitchFamily="34" charset="0"/>
              <a:buChar char="•"/>
            </a:pPr>
            <a:r>
              <a:rPr lang="en-SG" dirty="0"/>
              <a:t>Loss surface</a:t>
            </a:r>
          </a:p>
          <a:p>
            <a:pPr marL="617220" lvl="1" indent="-342900"/>
            <a:r>
              <a:rPr lang="en-SG" dirty="0">
                <a:hlinkClick r:id="rId3"/>
              </a:rPr>
              <a:t>https://losslandscape.com/</a:t>
            </a:r>
            <a:endParaRPr lang="en-SG" dirty="0"/>
          </a:p>
          <a:p>
            <a:pPr marL="617220" lvl="1" indent="-342900"/>
            <a:r>
              <a:rPr lang="en-SG" dirty="0">
                <a:hlinkClick r:id="rId4"/>
              </a:rPr>
              <a:t>Weight update mechanism</a:t>
            </a:r>
            <a:endParaRPr lang="en-SG" dirty="0"/>
          </a:p>
          <a:p>
            <a:endParaRPr lang="en-SG" dirty="0"/>
          </a:p>
        </p:txBody>
      </p:sp>
      <p:sp>
        <p:nvSpPr>
          <p:cNvPr id="5" name="Content Placeholder 2">
            <a:extLst>
              <a:ext uri="{FF2B5EF4-FFF2-40B4-BE49-F238E27FC236}">
                <a16:creationId xmlns:a16="http://schemas.microsoft.com/office/drawing/2014/main" id="{B47209F1-B6B5-4FDE-9B8F-AA6C96CE1D1D}"/>
              </a:ext>
            </a:extLst>
          </p:cNvPr>
          <p:cNvSpPr txBox="1">
            <a:spLocks/>
          </p:cNvSpPr>
          <p:nvPr/>
        </p:nvSpPr>
        <p:spPr>
          <a:xfrm>
            <a:off x="1181100" y="2314303"/>
            <a:ext cx="10134600" cy="3969342"/>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SG" dirty="0"/>
          </a:p>
          <a:p>
            <a:endParaRPr lang="en-SG" dirty="0"/>
          </a:p>
        </p:txBody>
      </p:sp>
      <p:sp>
        <p:nvSpPr>
          <p:cNvPr id="8" name="Content Placeholder 2">
            <a:extLst>
              <a:ext uri="{FF2B5EF4-FFF2-40B4-BE49-F238E27FC236}">
                <a16:creationId xmlns:a16="http://schemas.microsoft.com/office/drawing/2014/main" id="{4AC2024D-A501-4D0B-AB0B-89147D4D0B3D}"/>
              </a:ext>
            </a:extLst>
          </p:cNvPr>
          <p:cNvSpPr txBox="1">
            <a:spLocks/>
          </p:cNvSpPr>
          <p:nvPr/>
        </p:nvSpPr>
        <p:spPr>
          <a:xfrm>
            <a:off x="609600" y="1587548"/>
            <a:ext cx="10134600" cy="3969342"/>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SG" dirty="0"/>
          </a:p>
        </p:txBody>
      </p:sp>
      <p:pic>
        <p:nvPicPr>
          <p:cNvPr id="13" name="Picture 12">
            <a:extLst>
              <a:ext uri="{FF2B5EF4-FFF2-40B4-BE49-F238E27FC236}">
                <a16:creationId xmlns:a16="http://schemas.microsoft.com/office/drawing/2014/main" id="{BA110A0E-33DD-4DB9-98C6-5FAB86CF68DE}"/>
              </a:ext>
            </a:extLst>
          </p:cNvPr>
          <p:cNvPicPr>
            <a:picLocks noChangeAspect="1"/>
          </p:cNvPicPr>
          <p:nvPr/>
        </p:nvPicPr>
        <p:blipFill>
          <a:blip r:embed="rId5"/>
          <a:stretch>
            <a:fillRect/>
          </a:stretch>
        </p:blipFill>
        <p:spPr>
          <a:xfrm>
            <a:off x="4156363" y="2047016"/>
            <a:ext cx="1762125" cy="485775"/>
          </a:xfrm>
          <a:prstGeom prst="rect">
            <a:avLst/>
          </a:prstGeom>
        </p:spPr>
      </p:pic>
      <p:pic>
        <p:nvPicPr>
          <p:cNvPr id="17" name="Picture 16">
            <a:extLst>
              <a:ext uri="{FF2B5EF4-FFF2-40B4-BE49-F238E27FC236}">
                <a16:creationId xmlns:a16="http://schemas.microsoft.com/office/drawing/2014/main" id="{14535423-EBF8-4190-99B1-9B46FBE8856B}"/>
              </a:ext>
            </a:extLst>
          </p:cNvPr>
          <p:cNvPicPr>
            <a:picLocks noChangeAspect="1"/>
          </p:cNvPicPr>
          <p:nvPr/>
        </p:nvPicPr>
        <p:blipFill>
          <a:blip r:embed="rId6"/>
          <a:stretch>
            <a:fillRect/>
          </a:stretch>
        </p:blipFill>
        <p:spPr>
          <a:xfrm>
            <a:off x="4156363" y="2992259"/>
            <a:ext cx="7038969" cy="3831595"/>
          </a:xfrm>
          <a:prstGeom prst="rect">
            <a:avLst/>
          </a:prstGeom>
        </p:spPr>
      </p:pic>
    </p:spTree>
    <p:extLst>
      <p:ext uri="{BB962C8B-B14F-4D97-AF65-F5344CB8AC3E}">
        <p14:creationId xmlns:p14="http://schemas.microsoft.com/office/powerpoint/2010/main" val="29346591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10019E8F-A109-4E08-AFF9-69FC750289BF}"/>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5F36BE-4C30-4CB7-8560-075C97B7F6A5}"/>
              </a:ext>
            </a:extLst>
          </p:cNvPr>
          <p:cNvSpPr>
            <a:spLocks noGrp="1"/>
          </p:cNvSpPr>
          <p:nvPr>
            <p:ph type="title"/>
          </p:nvPr>
        </p:nvSpPr>
        <p:spPr>
          <a:xfrm>
            <a:off x="805343" y="723901"/>
            <a:ext cx="10821797" cy="810260"/>
          </a:xfrm>
        </p:spPr>
        <p:txBody>
          <a:bodyPr>
            <a:normAutofit fontScale="90000"/>
          </a:bodyPr>
          <a:lstStyle/>
          <a:p>
            <a:r>
              <a:rPr lang="en-US" dirty="0"/>
              <a:t>Training - Gradient Backpropagation, Learning!! (2</a:t>
            </a:r>
            <a:r>
              <a:rPr lang="en-US" baseline="30000" dirty="0"/>
              <a:t>nd</a:t>
            </a:r>
            <a:r>
              <a:rPr lang="en-US" dirty="0"/>
              <a:t> step in iteration)</a:t>
            </a:r>
            <a:endParaRPr lang="en-SG" dirty="0"/>
          </a:p>
        </p:txBody>
      </p:sp>
      <p:sp>
        <p:nvSpPr>
          <p:cNvPr id="3" name="Content Placeholder 2">
            <a:extLst>
              <a:ext uri="{FF2B5EF4-FFF2-40B4-BE49-F238E27FC236}">
                <a16:creationId xmlns:a16="http://schemas.microsoft.com/office/drawing/2014/main" id="{FE503B5D-2E2A-4D67-8DE2-43561C84BC5E}"/>
              </a:ext>
            </a:extLst>
          </p:cNvPr>
          <p:cNvSpPr>
            <a:spLocks noGrp="1"/>
          </p:cNvSpPr>
          <p:nvPr>
            <p:ph idx="1"/>
          </p:nvPr>
        </p:nvSpPr>
        <p:spPr>
          <a:xfrm>
            <a:off x="609599" y="1587547"/>
            <a:ext cx="10501745" cy="5090343"/>
          </a:xfrm>
        </p:spPr>
        <p:txBody>
          <a:bodyPr>
            <a:normAutofit/>
          </a:bodyPr>
          <a:lstStyle/>
          <a:p>
            <a:pPr marL="342900" indent="-342900">
              <a:buFont typeface="Arial" panose="020B0604020202020204" pitchFamily="34" charset="0"/>
              <a:buChar char="•"/>
            </a:pPr>
            <a:r>
              <a:rPr lang="en-SG" dirty="0"/>
              <a:t>Find the derivative of the loss at the present weight values. </a:t>
            </a:r>
          </a:p>
          <a:p>
            <a:pPr marL="342900" indent="-342900">
              <a:buFont typeface="Arial" panose="020B0604020202020204" pitchFamily="34" charset="0"/>
              <a:buChar char="•"/>
            </a:pPr>
            <a:r>
              <a:rPr lang="en-SG" dirty="0"/>
              <a:t>Derivative of a multivariable loss function/surface gives the direction of steepest ascent on the loss surface at the present weights. </a:t>
            </a:r>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r>
              <a:rPr lang="en-SG" dirty="0"/>
              <a:t>Update weights</a:t>
            </a:r>
          </a:p>
          <a:p>
            <a:endParaRPr lang="en-SG" dirty="0"/>
          </a:p>
        </p:txBody>
      </p:sp>
      <p:sp>
        <p:nvSpPr>
          <p:cNvPr id="5" name="Content Placeholder 2">
            <a:extLst>
              <a:ext uri="{FF2B5EF4-FFF2-40B4-BE49-F238E27FC236}">
                <a16:creationId xmlns:a16="http://schemas.microsoft.com/office/drawing/2014/main" id="{B47209F1-B6B5-4FDE-9B8F-AA6C96CE1D1D}"/>
              </a:ext>
            </a:extLst>
          </p:cNvPr>
          <p:cNvSpPr txBox="1">
            <a:spLocks/>
          </p:cNvSpPr>
          <p:nvPr/>
        </p:nvSpPr>
        <p:spPr>
          <a:xfrm>
            <a:off x="1181100" y="2314303"/>
            <a:ext cx="10134600" cy="3969342"/>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SG" dirty="0"/>
          </a:p>
          <a:p>
            <a:endParaRPr lang="en-SG" dirty="0"/>
          </a:p>
        </p:txBody>
      </p:sp>
      <p:sp>
        <p:nvSpPr>
          <p:cNvPr id="8" name="Content Placeholder 2">
            <a:extLst>
              <a:ext uri="{FF2B5EF4-FFF2-40B4-BE49-F238E27FC236}">
                <a16:creationId xmlns:a16="http://schemas.microsoft.com/office/drawing/2014/main" id="{4AC2024D-A501-4D0B-AB0B-89147D4D0B3D}"/>
              </a:ext>
            </a:extLst>
          </p:cNvPr>
          <p:cNvSpPr txBox="1">
            <a:spLocks/>
          </p:cNvSpPr>
          <p:nvPr/>
        </p:nvSpPr>
        <p:spPr>
          <a:xfrm>
            <a:off x="609600" y="1587548"/>
            <a:ext cx="10134600" cy="3969342"/>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SG" dirty="0"/>
          </a:p>
        </p:txBody>
      </p:sp>
      <p:pic>
        <p:nvPicPr>
          <p:cNvPr id="11" name="Picture 10">
            <a:extLst>
              <a:ext uri="{FF2B5EF4-FFF2-40B4-BE49-F238E27FC236}">
                <a16:creationId xmlns:a16="http://schemas.microsoft.com/office/drawing/2014/main" id="{E02026FE-6F52-4F12-844D-BAEAB0C4752E}"/>
              </a:ext>
            </a:extLst>
          </p:cNvPr>
          <p:cNvPicPr>
            <a:picLocks noChangeAspect="1"/>
          </p:cNvPicPr>
          <p:nvPr/>
        </p:nvPicPr>
        <p:blipFill>
          <a:blip r:embed="rId3"/>
          <a:stretch>
            <a:fillRect/>
          </a:stretch>
        </p:blipFill>
        <p:spPr>
          <a:xfrm>
            <a:off x="474661" y="5610276"/>
            <a:ext cx="1961658" cy="440116"/>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BCFC988-6276-4C5C-B5D1-ACF564B73847}"/>
                  </a:ext>
                </a:extLst>
              </p14:cNvPr>
              <p14:cNvContentPartPr/>
              <p14:nvPr/>
            </p14:nvContentPartPr>
            <p14:xfrm>
              <a:off x="3072204" y="4882516"/>
              <a:ext cx="360" cy="2520"/>
            </p14:xfrm>
          </p:contentPart>
        </mc:Choice>
        <mc:Fallback xmlns="">
          <p:pic>
            <p:nvPicPr>
              <p:cNvPr id="4" name="Ink 3">
                <a:extLst>
                  <a:ext uri="{FF2B5EF4-FFF2-40B4-BE49-F238E27FC236}">
                    <a16:creationId xmlns:a16="http://schemas.microsoft.com/office/drawing/2014/main" id="{0BCFC988-6276-4C5C-B5D1-ACF564B73847}"/>
                  </a:ext>
                </a:extLst>
              </p:cNvPr>
              <p:cNvPicPr/>
              <p:nvPr/>
            </p:nvPicPr>
            <p:blipFill>
              <a:blip r:embed="rId6"/>
              <a:stretch>
                <a:fillRect/>
              </a:stretch>
            </p:blipFill>
            <p:spPr>
              <a:xfrm>
                <a:off x="3063564" y="4873876"/>
                <a:ext cx="18000" cy="20160"/>
              </a:xfrm>
              <a:prstGeom prst="rect">
                <a:avLst/>
              </a:prstGeom>
            </p:spPr>
          </p:pic>
        </mc:Fallback>
      </mc:AlternateContent>
      <p:pic>
        <p:nvPicPr>
          <p:cNvPr id="9" name="Picture 8">
            <a:extLst>
              <a:ext uri="{FF2B5EF4-FFF2-40B4-BE49-F238E27FC236}">
                <a16:creationId xmlns:a16="http://schemas.microsoft.com/office/drawing/2014/main" id="{4DF893C2-15FC-4A85-9DB5-4C5D3ACF4085}"/>
              </a:ext>
            </a:extLst>
          </p:cNvPr>
          <p:cNvPicPr>
            <a:picLocks noChangeAspect="1"/>
          </p:cNvPicPr>
          <p:nvPr/>
        </p:nvPicPr>
        <p:blipFill>
          <a:blip r:embed="rId7"/>
          <a:stretch>
            <a:fillRect/>
          </a:stretch>
        </p:blipFill>
        <p:spPr>
          <a:xfrm>
            <a:off x="2741611" y="5287523"/>
            <a:ext cx="3931083" cy="1276484"/>
          </a:xfrm>
          <a:prstGeom prst="rect">
            <a:avLst/>
          </a:prstGeom>
        </p:spPr>
      </p:pic>
    </p:spTree>
    <p:extLst>
      <p:ext uri="{BB962C8B-B14F-4D97-AF65-F5344CB8AC3E}">
        <p14:creationId xmlns:p14="http://schemas.microsoft.com/office/powerpoint/2010/main" val="3868162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10019E8F-A109-4E08-AFF9-69FC750289BF}"/>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2307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5F36BE-4C30-4CB7-8560-075C97B7F6A5}"/>
              </a:ext>
            </a:extLst>
          </p:cNvPr>
          <p:cNvSpPr>
            <a:spLocks noGrp="1"/>
          </p:cNvSpPr>
          <p:nvPr>
            <p:ph type="title"/>
          </p:nvPr>
        </p:nvSpPr>
        <p:spPr>
          <a:xfrm>
            <a:off x="662731" y="723901"/>
            <a:ext cx="11216080" cy="810260"/>
          </a:xfrm>
        </p:spPr>
        <p:txBody>
          <a:bodyPr>
            <a:normAutofit/>
          </a:bodyPr>
          <a:lstStyle/>
          <a:p>
            <a:r>
              <a:rPr lang="en-US" dirty="0"/>
              <a:t>Training – Iteration stopping criteria (Last step in iteration)</a:t>
            </a:r>
            <a:endParaRPr lang="en-SG" dirty="0"/>
          </a:p>
        </p:txBody>
      </p:sp>
      <p:sp>
        <p:nvSpPr>
          <p:cNvPr id="3" name="Content Placeholder 2">
            <a:extLst>
              <a:ext uri="{FF2B5EF4-FFF2-40B4-BE49-F238E27FC236}">
                <a16:creationId xmlns:a16="http://schemas.microsoft.com/office/drawing/2014/main" id="{FE503B5D-2E2A-4D67-8DE2-43561C84BC5E}"/>
              </a:ext>
            </a:extLst>
          </p:cNvPr>
          <p:cNvSpPr>
            <a:spLocks noGrp="1"/>
          </p:cNvSpPr>
          <p:nvPr>
            <p:ph idx="1"/>
          </p:nvPr>
        </p:nvSpPr>
        <p:spPr>
          <a:xfrm>
            <a:off x="1028700" y="1753300"/>
            <a:ext cx="10134600" cy="4832058"/>
          </a:xfrm>
        </p:spPr>
        <p:txBody>
          <a:bodyPr>
            <a:normAutofit lnSpcReduction="10000"/>
          </a:bodyPr>
          <a:lstStyle/>
          <a:p>
            <a:pPr marL="342900" indent="-342900">
              <a:buFont typeface="Arial" panose="020B0604020202020204" pitchFamily="34" charset="0"/>
              <a:buChar char="•"/>
            </a:pPr>
            <a:r>
              <a:rPr lang="en-US" dirty="0"/>
              <a:t>Go back to 1</a:t>
            </a:r>
            <a:r>
              <a:rPr lang="en-US" baseline="30000" dirty="0"/>
              <a:t>st</a:t>
            </a:r>
            <a:r>
              <a:rPr lang="en-US" dirty="0"/>
              <a:t> step and perform a forward pass on a new data sample with updated weights. Compare the prediction with ground-truth to find loss. Is the loss converging to 0?</a:t>
            </a:r>
          </a:p>
          <a:p>
            <a:pPr marL="342900" indent="-342900">
              <a:buFont typeface="Arial" panose="020B0604020202020204" pitchFamily="34" charset="0"/>
              <a:buChar char="•"/>
            </a:pPr>
            <a:r>
              <a:rPr lang="en-SG" dirty="0"/>
              <a:t>If  Yes, Stop. Learning is complete. Continue to test on untrained data. </a:t>
            </a:r>
          </a:p>
          <a:p>
            <a:pPr marL="342900" indent="-342900">
              <a:buFont typeface="Arial" panose="020B0604020202020204" pitchFamily="34" charset="0"/>
              <a:buChar char="•"/>
            </a:pPr>
            <a:r>
              <a:rPr lang="en-SG" dirty="0"/>
              <a:t>If No, Perform Forward pass and continue iteration.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r>
              <a:rPr lang="en-SG" dirty="0"/>
              <a:t>Source: </a:t>
            </a:r>
            <a:r>
              <a:rPr lang="en-SG" dirty="0">
                <a:hlinkClick r:id="rId3"/>
              </a:rPr>
              <a:t>For the 3 steps</a:t>
            </a:r>
            <a:r>
              <a:rPr lang="en-SG" dirty="0"/>
              <a:t> </a:t>
            </a:r>
          </a:p>
          <a:p>
            <a:pPr marL="342900" indent="-342900">
              <a:buFont typeface="Arial" panose="020B0604020202020204" pitchFamily="34" charset="0"/>
              <a:buChar char="•"/>
            </a:pPr>
            <a:r>
              <a:rPr lang="en-SG" dirty="0">
                <a:hlinkClick r:id="rId4"/>
              </a:rPr>
              <a:t>Neural network working example on unstructured data such as an image. </a:t>
            </a:r>
            <a:endParaRPr lang="en-SG" dirty="0"/>
          </a:p>
          <a:p>
            <a:pPr marL="342900" indent="-342900">
              <a:buFont typeface="Arial" panose="020B0604020202020204" pitchFamily="34" charset="0"/>
              <a:buChar char="•"/>
            </a:pPr>
            <a:endParaRPr lang="en-SG" dirty="0"/>
          </a:p>
        </p:txBody>
      </p:sp>
      <p:pic>
        <p:nvPicPr>
          <p:cNvPr id="5" name="Picture 4">
            <a:extLst>
              <a:ext uri="{FF2B5EF4-FFF2-40B4-BE49-F238E27FC236}">
                <a16:creationId xmlns:a16="http://schemas.microsoft.com/office/drawing/2014/main" id="{2F1E6F80-F7B7-4117-A84B-849F70D02A16}"/>
              </a:ext>
            </a:extLst>
          </p:cNvPr>
          <p:cNvPicPr>
            <a:picLocks noChangeAspect="1"/>
          </p:cNvPicPr>
          <p:nvPr/>
        </p:nvPicPr>
        <p:blipFill>
          <a:blip r:embed="rId5"/>
          <a:stretch>
            <a:fillRect/>
          </a:stretch>
        </p:blipFill>
        <p:spPr>
          <a:xfrm>
            <a:off x="3800168" y="3335411"/>
            <a:ext cx="3400425" cy="2038350"/>
          </a:xfrm>
          <a:prstGeom prst="rect">
            <a:avLst/>
          </a:prstGeom>
        </p:spPr>
      </p:pic>
    </p:spTree>
    <p:extLst>
      <p:ext uri="{BB962C8B-B14F-4D97-AF65-F5344CB8AC3E}">
        <p14:creationId xmlns:p14="http://schemas.microsoft.com/office/powerpoint/2010/main" val="3366967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10019E8F-A109-4E08-AFF9-69FC750289BF}"/>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5F36BE-4C30-4CB7-8560-075C97B7F6A5}"/>
              </a:ext>
            </a:extLst>
          </p:cNvPr>
          <p:cNvSpPr>
            <a:spLocks noGrp="1"/>
          </p:cNvSpPr>
          <p:nvPr>
            <p:ph type="title"/>
          </p:nvPr>
        </p:nvSpPr>
        <p:spPr>
          <a:xfrm>
            <a:off x="1028700" y="723900"/>
            <a:ext cx="10134600" cy="534449"/>
          </a:xfrm>
        </p:spPr>
        <p:txBody>
          <a:bodyPr>
            <a:normAutofit fontScale="90000"/>
          </a:bodyPr>
          <a:lstStyle/>
          <a:p>
            <a:r>
              <a:rPr lang="en-SG" dirty="0"/>
              <a:t>AI development process summary</a:t>
            </a:r>
          </a:p>
        </p:txBody>
      </p:sp>
      <p:sp>
        <p:nvSpPr>
          <p:cNvPr id="3" name="Content Placeholder 2">
            <a:extLst>
              <a:ext uri="{FF2B5EF4-FFF2-40B4-BE49-F238E27FC236}">
                <a16:creationId xmlns:a16="http://schemas.microsoft.com/office/drawing/2014/main" id="{FE503B5D-2E2A-4D67-8DE2-43561C84BC5E}"/>
              </a:ext>
            </a:extLst>
          </p:cNvPr>
          <p:cNvSpPr>
            <a:spLocks noGrp="1"/>
          </p:cNvSpPr>
          <p:nvPr>
            <p:ph idx="1"/>
          </p:nvPr>
        </p:nvSpPr>
        <p:spPr>
          <a:xfrm>
            <a:off x="1028700" y="1493240"/>
            <a:ext cx="10134600" cy="5184397"/>
          </a:xfrm>
        </p:spPr>
        <p:txBody>
          <a:bodyPr>
            <a:normAutofit lnSpcReduction="10000"/>
          </a:bodyPr>
          <a:lstStyle/>
          <a:p>
            <a:pPr marL="342900" indent="-342900">
              <a:buFont typeface="Arial" panose="020B0604020202020204" pitchFamily="34" charset="0"/>
              <a:buChar char="•"/>
            </a:pPr>
            <a:r>
              <a:rPr lang="en-SG" dirty="0"/>
              <a:t>Data gathering</a:t>
            </a:r>
          </a:p>
          <a:p>
            <a:pPr marL="617220" lvl="1" indent="-342900"/>
            <a:r>
              <a:rPr lang="en-SG" dirty="0"/>
              <a:t>Structured data (tabular form) or Unstructured data (images, sound or sentences)</a:t>
            </a:r>
          </a:p>
          <a:p>
            <a:pPr marL="617220" lvl="1" indent="-342900"/>
            <a:r>
              <a:rPr lang="en-SG" dirty="0"/>
              <a:t>Structured (Unstructured) data often do not require (does require) feature extraction before training</a:t>
            </a:r>
          </a:p>
          <a:p>
            <a:pPr marL="617220" lvl="1" indent="-342900"/>
            <a:r>
              <a:rPr lang="en-SG" dirty="0"/>
              <a:t>Training data should be comprehensive (varied) enough to capture the underlying data distribution</a:t>
            </a:r>
          </a:p>
          <a:p>
            <a:pPr marL="617220" lvl="1" indent="-342900"/>
            <a:r>
              <a:rPr lang="en-SG" dirty="0"/>
              <a:t>Removal of outliers and biases is necessary to have a loss surface that is continuous (differentiable, (also called learning).) with fewer local minima.</a:t>
            </a:r>
          </a:p>
          <a:p>
            <a:pPr marL="617220" lvl="1" indent="-342900"/>
            <a:r>
              <a:rPr lang="en-SG" dirty="0"/>
              <a:t>Split data into training set and testing set such that both sets are mutually exclusive.</a:t>
            </a:r>
          </a:p>
          <a:p>
            <a:pPr marL="342900" indent="-342900">
              <a:buFont typeface="Arial" panose="020B0604020202020204" pitchFamily="34" charset="0"/>
              <a:buChar char="•"/>
            </a:pPr>
            <a:r>
              <a:rPr lang="en-SG" dirty="0"/>
              <a:t>Training</a:t>
            </a:r>
          </a:p>
          <a:p>
            <a:pPr marL="617220" lvl="1" indent="-342900"/>
            <a:r>
              <a:rPr lang="en-SG" dirty="0"/>
              <a:t>Iteratively perform forward pass, backpropagation and compute loss until loss is ~= 0. 	</a:t>
            </a:r>
          </a:p>
          <a:p>
            <a:pPr marL="342900" indent="-342900">
              <a:buFont typeface="Arial" panose="020B0604020202020204" pitchFamily="34" charset="0"/>
              <a:buChar char="•"/>
            </a:pPr>
            <a:r>
              <a:rPr lang="en-SG" dirty="0"/>
              <a:t>Validation</a:t>
            </a:r>
          </a:p>
          <a:p>
            <a:pPr marL="617220" lvl="1" indent="-342900"/>
            <a:r>
              <a:rPr lang="en-SG" dirty="0"/>
              <a:t>Helps to choose hyperparameters like structure of network. i.e. Number of neurons in each layer. </a:t>
            </a:r>
          </a:p>
          <a:p>
            <a:pPr marL="342900" indent="-342900">
              <a:buFont typeface="Arial" panose="020B0604020202020204" pitchFamily="34" charset="0"/>
              <a:buChar char="•"/>
            </a:pPr>
            <a:r>
              <a:rPr lang="en-SG" dirty="0"/>
              <a:t>Testing</a:t>
            </a:r>
          </a:p>
          <a:p>
            <a:pPr marL="617220" lvl="1" indent="-342900"/>
            <a:r>
              <a:rPr lang="en-SG" dirty="0"/>
              <a:t>Strength of NN as opposed to other rule-based algorithms lies in its ability to generalize well to unseen data. </a:t>
            </a:r>
          </a:p>
          <a:p>
            <a:pPr marL="617220" lvl="1" indent="-342900"/>
            <a:endParaRPr lang="en-SG" dirty="0"/>
          </a:p>
        </p:txBody>
      </p:sp>
    </p:spTree>
    <p:extLst>
      <p:ext uri="{BB962C8B-B14F-4D97-AF65-F5344CB8AC3E}">
        <p14:creationId xmlns:p14="http://schemas.microsoft.com/office/powerpoint/2010/main" val="876165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Giving Nitro Boost to Artificial Intelligence! | by Blockchain DuDe |  HackerNoon.com | Medium">
            <a:extLst>
              <a:ext uri="{FF2B5EF4-FFF2-40B4-BE49-F238E27FC236}">
                <a16:creationId xmlns:a16="http://schemas.microsoft.com/office/drawing/2014/main" id="{D2737A6C-7512-47CD-B1DA-2C95EC96EA47}"/>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D8DC5E1-DC4E-4A60-9DDF-E22C2450A97C}"/>
              </a:ext>
            </a:extLst>
          </p:cNvPr>
          <p:cNvSpPr>
            <a:spLocks noGrp="1"/>
          </p:cNvSpPr>
          <p:nvPr>
            <p:ph type="title"/>
          </p:nvPr>
        </p:nvSpPr>
        <p:spPr>
          <a:xfrm>
            <a:off x="1028700" y="723901"/>
            <a:ext cx="10134600" cy="593172"/>
          </a:xfrm>
        </p:spPr>
        <p:txBody>
          <a:bodyPr>
            <a:normAutofit fontScale="90000"/>
          </a:bodyPr>
          <a:lstStyle/>
          <a:p>
            <a:r>
              <a:rPr lang="en-SG" dirty="0"/>
              <a:t>Resources to learn about AI</a:t>
            </a:r>
          </a:p>
        </p:txBody>
      </p:sp>
      <p:sp>
        <p:nvSpPr>
          <p:cNvPr id="3" name="Content Placeholder 2">
            <a:extLst>
              <a:ext uri="{FF2B5EF4-FFF2-40B4-BE49-F238E27FC236}">
                <a16:creationId xmlns:a16="http://schemas.microsoft.com/office/drawing/2014/main" id="{06B68E9D-3324-4DA7-87AC-5915BE80695B}"/>
              </a:ext>
            </a:extLst>
          </p:cNvPr>
          <p:cNvSpPr>
            <a:spLocks noGrp="1"/>
          </p:cNvSpPr>
          <p:nvPr>
            <p:ph idx="1"/>
          </p:nvPr>
        </p:nvSpPr>
        <p:spPr>
          <a:xfrm>
            <a:off x="1028700" y="1602297"/>
            <a:ext cx="10134600" cy="5108896"/>
          </a:xfrm>
        </p:spPr>
        <p:txBody>
          <a:bodyPr>
            <a:normAutofit fontScale="85000" lnSpcReduction="20000"/>
          </a:bodyPr>
          <a:lstStyle/>
          <a:p>
            <a:pPr marL="342900" indent="-342900">
              <a:buFont typeface="Arial" panose="020B0604020202020204" pitchFamily="34" charset="0"/>
              <a:buChar char="•"/>
            </a:pPr>
            <a:r>
              <a:rPr lang="en-SG" dirty="0"/>
              <a:t>Mathematical Prerequisites:</a:t>
            </a:r>
          </a:p>
          <a:p>
            <a:pPr marL="617220" lvl="1" indent="-342900">
              <a:buFont typeface="+mj-lt"/>
              <a:buAutoNum type="arabicPeriod"/>
            </a:pPr>
            <a:r>
              <a:rPr lang="en-SG" dirty="0">
                <a:hlinkClick r:id="rId3"/>
              </a:rPr>
              <a:t>Calculus (incl. Multivariable differential calculus)</a:t>
            </a:r>
            <a:endParaRPr lang="en-SG" dirty="0"/>
          </a:p>
          <a:p>
            <a:pPr marL="617220" lvl="1" indent="-342900">
              <a:buFont typeface="+mj-lt"/>
              <a:buAutoNum type="arabicPeriod"/>
            </a:pPr>
            <a:r>
              <a:rPr lang="en-SG" dirty="0">
                <a:hlinkClick r:id="rId4"/>
              </a:rPr>
              <a:t>First course in Linear Algebra</a:t>
            </a:r>
            <a:r>
              <a:rPr lang="en-SG" dirty="0"/>
              <a:t> (basics incl. matrix operations)</a:t>
            </a:r>
          </a:p>
          <a:p>
            <a:pPr marL="617220" lvl="1" indent="-342900">
              <a:buFont typeface="+mj-lt"/>
              <a:buAutoNum type="arabicPeriod"/>
            </a:pPr>
            <a:r>
              <a:rPr lang="en-SG" dirty="0">
                <a:hlinkClick r:id="rId5"/>
              </a:rPr>
              <a:t>First course in Probability</a:t>
            </a:r>
            <a:r>
              <a:rPr lang="en-SG" dirty="0"/>
              <a:t>(basics incl. bayes theorem)</a:t>
            </a:r>
          </a:p>
          <a:p>
            <a:pPr marL="342900" indent="-342900">
              <a:buFont typeface="Arial" panose="020B0604020202020204" pitchFamily="34" charset="0"/>
              <a:buChar char="•"/>
            </a:pPr>
            <a:r>
              <a:rPr lang="en-SG" dirty="0"/>
              <a:t>AI research information</a:t>
            </a:r>
          </a:p>
          <a:p>
            <a:pPr marL="617220" lvl="1" indent="-342900"/>
            <a:r>
              <a:rPr lang="en-SG" dirty="0">
                <a:hlinkClick r:id="rId6"/>
              </a:rPr>
              <a:t>https://openai.com/</a:t>
            </a:r>
            <a:endParaRPr lang="en-SG" dirty="0"/>
          </a:p>
          <a:p>
            <a:pPr marL="342900" indent="-342900">
              <a:buFont typeface="Arial" panose="020B0604020202020204" pitchFamily="34" charset="0"/>
              <a:buChar char="•"/>
            </a:pPr>
            <a:r>
              <a:rPr lang="en-SG" dirty="0"/>
              <a:t>Online resources</a:t>
            </a:r>
          </a:p>
          <a:p>
            <a:pPr marL="617220" lvl="1" indent="-342900"/>
            <a:r>
              <a:rPr lang="en-SG" dirty="0">
                <a:hlinkClick r:id="rId7"/>
              </a:rPr>
              <a:t>https://machinelearningmastery.com/</a:t>
            </a:r>
            <a:endParaRPr lang="en-SG" dirty="0"/>
          </a:p>
          <a:p>
            <a:pPr marL="617220" lvl="1" indent="-342900"/>
            <a:r>
              <a:rPr lang="en-SG" dirty="0">
                <a:hlinkClick r:id="rId8"/>
              </a:rPr>
              <a:t>https://towardsdatascience.com/conda-google-colab-75f7c867a522</a:t>
            </a:r>
            <a:endParaRPr lang="en-SG" dirty="0"/>
          </a:p>
          <a:p>
            <a:pPr marL="617220" lvl="1" indent="-342900"/>
            <a:r>
              <a:rPr lang="en-SG" dirty="0">
                <a:hlinkClick r:id="rId9" action="ppaction://hlinkfile"/>
              </a:rPr>
              <a:t>kaggle.com</a:t>
            </a:r>
            <a:endParaRPr lang="en-SG" dirty="0"/>
          </a:p>
          <a:p>
            <a:pPr marL="617220" lvl="1" indent="-342900"/>
            <a:r>
              <a:rPr lang="en-SG" dirty="0">
                <a:hlinkClick r:id="rId10"/>
              </a:rPr>
              <a:t>https://realpython.com/</a:t>
            </a:r>
            <a:endParaRPr lang="en-SG" dirty="0"/>
          </a:p>
          <a:p>
            <a:pPr marL="617220" lvl="1" indent="-342900"/>
            <a:r>
              <a:rPr lang="en-SG" dirty="0">
                <a:hlinkClick r:id="rId11"/>
              </a:rPr>
              <a:t>https://www.youtube.com/c/joshstarmer</a:t>
            </a:r>
            <a:endParaRPr lang="en-SG" dirty="0"/>
          </a:p>
          <a:p>
            <a:pPr marL="342900" indent="-342900">
              <a:buFont typeface="Arial" panose="020B0604020202020204" pitchFamily="34" charset="0"/>
              <a:buChar char="•"/>
            </a:pPr>
            <a:r>
              <a:rPr lang="en-US" dirty="0"/>
              <a:t>Where can I learn about AI and be certified?</a:t>
            </a:r>
          </a:p>
          <a:p>
            <a:pPr marL="617220" lvl="1" indent="-342900"/>
            <a:r>
              <a:rPr lang="en-SG" dirty="0">
                <a:hlinkClick r:id="rId12"/>
              </a:rPr>
              <a:t>Coursera</a:t>
            </a:r>
          </a:p>
          <a:p>
            <a:pPr marL="617220" lvl="1" indent="-342900"/>
            <a:r>
              <a:rPr lang="en-SG" dirty="0">
                <a:hlinkClick r:id="rId12"/>
              </a:rPr>
              <a:t>Deep Learning Specialization</a:t>
            </a:r>
            <a:endParaRPr lang="en-SG" dirty="0"/>
          </a:p>
          <a:p>
            <a:pPr marL="617220" lvl="1" indent="-342900"/>
            <a:r>
              <a:rPr lang="en-SG" dirty="0">
                <a:hlinkClick r:id="rId13"/>
              </a:rPr>
              <a:t>IBM Data Science</a:t>
            </a:r>
            <a:endParaRPr lang="en-SG" dirty="0"/>
          </a:p>
          <a:p>
            <a:pPr marL="617220" lvl="1" indent="-342900"/>
            <a:r>
              <a:rPr lang="en-SG" dirty="0">
                <a:hlinkClick r:id="rId14"/>
              </a:rPr>
              <a:t>IBM AI</a:t>
            </a:r>
            <a:endParaRPr lang="en-SG" dirty="0"/>
          </a:p>
        </p:txBody>
      </p:sp>
    </p:spTree>
    <p:extLst>
      <p:ext uri="{BB962C8B-B14F-4D97-AF65-F5344CB8AC3E}">
        <p14:creationId xmlns:p14="http://schemas.microsoft.com/office/powerpoint/2010/main" val="785245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ving Nitro Boost to Artificial Intelligence! | by Blockchain DuDe |  HackerNoon.com | Medium">
            <a:extLst>
              <a:ext uri="{FF2B5EF4-FFF2-40B4-BE49-F238E27FC236}">
                <a16:creationId xmlns:a16="http://schemas.microsoft.com/office/drawing/2014/main" id="{10019E8F-A109-4E08-AFF9-69FC750289BF}"/>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5F36BE-4C30-4CB7-8560-075C97B7F6A5}"/>
              </a:ext>
            </a:extLst>
          </p:cNvPr>
          <p:cNvSpPr>
            <a:spLocks noGrp="1"/>
          </p:cNvSpPr>
          <p:nvPr>
            <p:ph type="title"/>
          </p:nvPr>
        </p:nvSpPr>
        <p:spPr>
          <a:xfrm>
            <a:off x="1028700" y="2055302"/>
            <a:ext cx="10134600" cy="2483141"/>
          </a:xfrm>
        </p:spPr>
        <p:txBody>
          <a:bodyPr>
            <a:normAutofit/>
          </a:bodyPr>
          <a:lstStyle/>
          <a:p>
            <a:pPr algn="ctr"/>
            <a:r>
              <a:rPr lang="en-US" sz="6000" dirty="0"/>
              <a:t>T</a:t>
            </a:r>
            <a:r>
              <a:rPr lang="en-SG" sz="6000" dirty="0"/>
              <a:t>HE END</a:t>
            </a:r>
            <a:br>
              <a:rPr lang="en-SG" dirty="0"/>
            </a:br>
            <a:br>
              <a:rPr lang="en-SG" dirty="0"/>
            </a:br>
            <a:r>
              <a:rPr lang="en-SG" dirty="0"/>
              <a:t>THANKS FOR YOR ATTENTION!!</a:t>
            </a:r>
          </a:p>
        </p:txBody>
      </p:sp>
    </p:spTree>
    <p:extLst>
      <p:ext uri="{BB962C8B-B14F-4D97-AF65-F5344CB8AC3E}">
        <p14:creationId xmlns:p14="http://schemas.microsoft.com/office/powerpoint/2010/main" val="869232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AdornVTI">
  <a:themeElements>
    <a:clrScheme name="GC1">
      <a:dk1>
        <a:sysClr val="windowText" lastClr="000000"/>
      </a:dk1>
      <a:lt1>
        <a:sysClr val="window" lastClr="FFFFFF"/>
      </a:lt1>
      <a:dk2>
        <a:srgbClr val="2C2830"/>
      </a:dk2>
      <a:lt2>
        <a:srgbClr val="E0DCE1"/>
      </a:lt2>
      <a:accent1>
        <a:srgbClr val="908193"/>
      </a:accent1>
      <a:accent2>
        <a:srgbClr val="A08889"/>
      </a:accent2>
      <a:accent3>
        <a:srgbClr val="B48C7E"/>
      </a:accent3>
      <a:accent4>
        <a:srgbClr val="809C9B"/>
      </a:accent4>
      <a:accent5>
        <a:srgbClr val="899F91"/>
      </a:accent5>
      <a:accent6>
        <a:srgbClr val="728274"/>
      </a:accent6>
      <a:hlink>
        <a:srgbClr val="837585"/>
      </a:hlink>
      <a:folHlink>
        <a:srgbClr val="677E83"/>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docProps/app.xml><?xml version="1.0" encoding="utf-8"?>
<Properties xmlns="http://schemas.openxmlformats.org/officeDocument/2006/extended-properties" xmlns:vt="http://schemas.openxmlformats.org/officeDocument/2006/docPropsVTypes">
  <TotalTime>653</TotalTime>
  <Words>997</Words>
  <Application>Microsoft Office PowerPoint</Application>
  <PresentationFormat>Widescreen</PresentationFormat>
  <Paragraphs>186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Bembo</vt:lpstr>
      <vt:lpstr>AdornVTI</vt:lpstr>
      <vt:lpstr>Artificial intelligence - Part 1</vt:lpstr>
      <vt:lpstr>The Power of AI – LSTM &amp; CNN</vt:lpstr>
      <vt:lpstr>The Power of AI – Common tasks</vt:lpstr>
      <vt:lpstr>The Power of AI – Common tasks</vt:lpstr>
      <vt:lpstr>Under the bonnet of AI -&gt; NEURAL NETWORKS (NN)</vt:lpstr>
      <vt:lpstr>Under the bonnet of AI -&gt; NEURAL NETWORKS (NN)</vt:lpstr>
      <vt:lpstr>Under the bonnet of AI -&gt; NEURAL NETWORKS (NN)</vt:lpstr>
      <vt:lpstr>Training - Forward Pass (1st step in iteration)</vt:lpstr>
      <vt:lpstr>Training - Gradient Backpropagation, Learning!! (2nd step in iteration)</vt:lpstr>
      <vt:lpstr>Training - Gradient Backpropagation, Learning!! (2nd step in iteration)</vt:lpstr>
      <vt:lpstr>Training – Iteration stopping criteria (Last step in iteration)</vt:lpstr>
      <vt:lpstr>AI development process summary</vt:lpstr>
      <vt:lpstr>Resources to learn about AI</vt:lpstr>
      <vt:lpstr>THE END  THANKS FOR YOR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Jose Peeterson</dc:creator>
  <cp:lastModifiedBy>Jose Peeterson</cp:lastModifiedBy>
  <cp:revision>48</cp:revision>
  <dcterms:created xsi:type="dcterms:W3CDTF">2021-10-08T09:33:00Z</dcterms:created>
  <dcterms:modified xsi:type="dcterms:W3CDTF">2021-10-10T13:12:06Z</dcterms:modified>
</cp:coreProperties>
</file>